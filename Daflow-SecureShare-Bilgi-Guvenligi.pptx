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sunumda Daflow veri analiz platformuna eklenen SecureShare güvenlik katmanını anlatacağım. Odak noktamız datasetlerin güvenli saklanması, izin bazlı paylaşılması, workflow ve export işlemlerinde yetki kontrolüdür. Yaklaşık süre: 30 saniye.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veri analiz platformunda kullanıcılar satış, müşteri, finans veya kişisel veri içeren dosyalar yükleyebilir. Bu dosyalar kontrolsüz şekilde paylaşılırsa veri sızıntısı oluşabilir. Bu yüzden analiz sistemiyle birlikte güvenlik ve erişim kontrolü de tasarlanmalıdır.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Amacım Daflow’a platform seviyesinde bir güvenlik katmanı eklemekti. Kullanıcı dataset yüklediğinde güvenli saklanacak, başka kullanıcıyla paylaşırken yetki tipi seçilecek, sistem de workflow ve export öncesinde bu yetkileri otomatik kontrol edecektir.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Daflow, veri dosyalarının workflow mantığıyla analiz edilmesini sağlayan bir platformdur. Kullanıcı dosya yükler, analiz nodelarını bağlar, ardından dashboard veya rapor çıktısı üretir. SecureShare bu mevcut yapının üzerine güvenlik katmanı olarak eklendi. Yaklaşık süre: 50 saniye.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SecureShare, datasetlerin güvenli yönetimi için eklenen katmandır. Kullanıcı dataset detayında güvenlik durumunu görebilir, başka kullanıcıya email ile izin verebilir, kendisiyle paylaşılan datasetleri ayrı sayfada görebilir ve erişim loglarını takip edebilir.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projenin en önemli tasarım kararını anlatıyor. Eğer güvenliği workflow node’u yapsaydık kullanıcı her workflow’da bu node’u eklemek zorunda kalırdı. Bu da unutulabilir ve sistem güvensiz hale gelebilirdi. Bu nedenle güvenlik, workflow’un içinden değil platformun temel katmanından yönetildi. Yaklaşık süre: 1.5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Projede bilgi güvenliği dersindeki temel kavramları gerçek bir uygulamaya bağladım. Kullanıcı sadece ihtiyacı olan izne sahip olur. Bu least privilege yaklaşımıdır. Access log sayesinde sistemde yapılan işlemler sonradan incelenebilir.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gerçek kod parçaları ve kullanılan AES-256-GCM algoritması gösteriliyor. AES, simetrik blok şifreleme standardıdır; 256 ifadesi 256 bitlik anahtar kullanıldığını gösterir. GCM modu authenticated encryption sağlar: yani veriyi gizlerken aynı zamanda verinin değiştirilip değiştirilmediğini de doğrular. Her şifrelemede 12 byte random nonce üretilir; güvenlik için aynı key ile aynı nonce tekrar kullanılmamalıdır. secure_share.py içinde AESGCM import edilir, _key fonksiyonu DATASET_ENCRYPTION_KEY değerinden 32 byte key üretir, encrypt_dataset_bytes fonksiyonu 12 byte nonce oluşturup dosya içeriğini AES-256-GCM ile şifreler. decrypt_dataset_bytes fonksiyonu SecureShare magic prefixini kontrol eder, nonce ve encrypted payload alanlarını ayırır ve aynı key ile içeriği çözer. Upload sırasında files.py içinde encrypted_content = encrypt_dataset_bytes(content) çalışır ve storage’a encrypted_content yazılır. Workflow sırasında file_upload.py dosyayı okuyup decrypt_dataset_bytes ile çözer. Yaklaşık süre: 1.5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datasetin sahibidir ve tüm işlemleri yapabilir. View sadece önizleme içindir. Analyze izni workflow çalıştırmak için gerekir. Export ayrı tutulmuştur çünkü dışa aktarma verinin sistem dışına çıkması anlamına gelir ve daha yüksek risk taşır.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Paylaşım email adresi üzerinden yapılır. Kullanıcı sisteme kendi hesabıyla giriş yaptığında email eşleşirse ilgili dataset üzerinde verilen izin kadar işlem yapabilir. Süre dolmuşsa paylaşım geçersiz sayılır.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workflow’da bir dataset seçtiğinde sistem sadece frontend’e güvenmez. Backend tarafında da kontrol yapılır. Böylece kullanıcı arayüzünü manipüle etse bile backend izni olmayan workflow çalıştırmayı reddeder.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 verinin platform dışına çıkarılmasıdır. Bu yüzden analyze izni olan bir kullanıcıya otomatik export izni vermek doğru değildir. Kullanıcı analiz yapabilir ama raporu indiremeyebilir. Bu ayrım güvenlik açısından önemlidir.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log sistemi kimin hangi dataset üzerinde hangi işlemi yaptığını kaydeder. Başarılı işlemler kadar reddedilen erişimler de önemlidir. Bu kayıtlar sistem sahibine güvenlik denetimi ve olay inceleme imkanı verir. Yaklaşık süre: 1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sırasında önce dataset yükleme ve security status gösterilir. Daha sonra kullanıcı B’ye analyze izni verilir. B workflow’da dataset kullanabilir fakat export izni olmadığı için rapor veya dashboard indirme işlemi engellenir. Son olarak dataset sahibi log ekranından bu işlemleri görebilir. Yaklaşık süre: 1.5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proje bilgi güvenliği dersindeki kavramları uygulamalı olarak göstermektedir. Yetkilendirme, erişim kontrolü, güvenli paylaşım ve audit trail gerçek sistemlerde kritik öneme sahiptir. Daflow SecureShare ile veri analiz platformu, güvenlik kontrollü bir platforma dönüşmüştür. Yaklaşık süre: 1 dakika.
Muhtemel sorular:
1. Neden node değil? Güvenlik opsiyonel olmamalı; kullanıcı node eklemeyi unutursa sistem güvensiz kalır.
2. Dersle bağlantısı ne? Veri güvenliği, erişim kontrolü, yetkilendirme, şifreli saklama ve audit trail kavramlarını uygular.
3. Yetkisiz erişim nasıl engellenir? Backend kritik işlemden önce dataset iznini kontrol eder ve izinsiz işlem reddedilir.
4. Export neden ayrı? Export verinin sistem dışına çıkmasıdır, bu nedenle analizden ayrı risk seviyesine sahiptir.
5. Log neden önemli? Kim, ne zaman, hangi veriye erişti görülebilir ve olay inceleme yapılabilir.
6. Nerede kullanılır? Finans, sağlık, eğitim, müşteri analitiği ve kurum içi veri platformlarında.
7. Gelecekte ne eklenebilir? Dosya bazlı key yönetimi, RBAC, admin güvenlik paneli, log export ve anomali erişim tespiti.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11C2E"/>
          </a:solidFill>
          <a:ln w="12700">
            <a:solidFill>
              <a:srgbClr val="111C2E">
                <a:alpha val="0"/>
              </a:srgbClr>
            </a:solidFill>
            <a:prstDash val="solid"/>
          </a:ln>
        </p:spPr>
      </p:sp>
      <p:sp>
        <p:nvSpPr>
          <p:cNvPr id="3" name="Shape 1"/>
          <p:cNvSpPr/>
          <p:nvPr/>
        </p:nvSpPr>
        <p:spPr>
          <a:xfrm>
            <a:off x="7696200" y="-619125"/>
            <a:ext cx="3857625" cy="3857625"/>
          </a:xfrm>
          <a:prstGeom prst="ellipse">
            <a:avLst/>
          </a:prstGeom>
          <a:solidFill>
            <a:srgbClr val="0E7490">
              <a:alpha val="92000"/>
            </a:srgbClr>
          </a:solidFill>
          <a:ln w="12700">
            <a:solidFill>
              <a:srgbClr val="0E7490">
                <a:alpha val="0"/>
              </a:srgbClr>
            </a:solidFill>
            <a:prstDash val="solid"/>
          </a:ln>
        </p:spPr>
      </p:sp>
      <p:sp>
        <p:nvSpPr>
          <p:cNvPr id="4" name="Shape 2"/>
          <p:cNvSpPr/>
          <p:nvPr/>
        </p:nvSpPr>
        <p:spPr>
          <a:xfrm>
            <a:off x="8858250" y="3048000"/>
            <a:ext cx="4191000" cy="4191000"/>
          </a:xfrm>
          <a:prstGeom prst="ellipse">
            <a:avLst/>
          </a:prstGeom>
          <a:solidFill>
            <a:srgbClr val="134E4A">
              <a:alpha val="92000"/>
            </a:srgbClr>
          </a:solidFill>
          <a:ln w="12700">
            <a:solidFill>
              <a:srgbClr val="134E4A">
                <a:alpha val="0"/>
              </a:srgbClr>
            </a:solidFill>
            <a:prstDash val="solid"/>
          </a:ln>
        </p:spPr>
      </p:sp>
      <p:sp>
        <p:nvSpPr>
          <p:cNvPr id="5" name="Shape 3"/>
          <p:cNvSpPr/>
          <p:nvPr/>
        </p:nvSpPr>
        <p:spPr>
          <a:xfrm>
            <a:off x="514350" y="552450"/>
            <a:ext cx="7810500" cy="5219700"/>
          </a:xfrm>
          <a:prstGeom prst="roundRect">
            <a:avLst/>
          </a:prstGeom>
          <a:solidFill>
            <a:srgbClr val="FFFFFF"/>
          </a:solidFill>
          <a:ln w="12700">
            <a:solidFill>
              <a:srgbClr val="D7E3F0"/>
            </a:solidFill>
            <a:prstDash val="solid"/>
          </a:ln>
        </p:spPr>
      </p:sp>
      <p:sp>
        <p:nvSpPr>
          <p:cNvPr id="6" name="Shape 4"/>
          <p:cNvSpPr/>
          <p:nvPr/>
        </p:nvSpPr>
        <p:spPr>
          <a:xfrm>
            <a:off x="695325" y="723900"/>
            <a:ext cx="2286000" cy="295275"/>
          </a:xfrm>
          <a:prstGeom prst="roundRect">
            <a:avLst/>
          </a:prstGeom>
          <a:solidFill>
            <a:srgbClr val="EAF7FF"/>
          </a:solidFill>
          <a:ln w="12700">
            <a:solidFill>
              <a:srgbClr val="BAE6FD"/>
            </a:solidFill>
            <a:prstDash val="solid"/>
          </a:ln>
        </p:spPr>
      </p:sp>
      <p:sp>
        <p:nvSpPr>
          <p:cNvPr id="7" name="Text 5"/>
          <p:cNvSpPr/>
          <p:nvPr/>
        </p:nvSpPr>
        <p:spPr>
          <a:xfrm>
            <a:off x="838200" y="790575"/>
            <a:ext cx="2000250" cy="161925"/>
          </a:xfrm>
          <a:prstGeom prst="rect">
            <a:avLst/>
          </a:prstGeom>
          <a:noFill/>
          <a:ln/>
        </p:spPr>
        <p:txBody>
          <a:bodyPr wrap="square" lIns="0" tIns="0" rIns="0" bIns="0" rtlCol="0" anchor="t">
            <a:normAutofit/>
          </a:bodyPr>
          <a:lstStyle/>
          <a:p>
            <a:pPr algn="ctr" indent="0" marL="0">
              <a:buNone/>
            </a:pPr>
            <a:r>
              <a:rPr lang="en-US" sz="1100" b="1" dirty="0">
                <a:solidFill>
                  <a:srgbClr val="0EA5E9"/>
                </a:solidFill>
                <a:latin typeface="Aptos" pitchFamily="34" charset="0"/>
                <a:ea typeface="Aptos" pitchFamily="34" charset="-122"/>
                <a:cs typeface="Aptos" pitchFamily="34" charset="-120"/>
              </a:rPr>
              <a:t>DAFLOW SECURESHARE</a:t>
            </a:r>
            <a:endParaRPr lang="en-US" sz="1100" dirty="0"/>
          </a:p>
        </p:txBody>
      </p:sp>
      <p:sp>
        <p:nvSpPr>
          <p:cNvPr id="8" name="Text 6"/>
          <p:cNvSpPr/>
          <p:nvPr/>
        </p:nvSpPr>
        <p:spPr>
          <a:xfrm>
            <a:off x="723900" y="1447800"/>
            <a:ext cx="6667500" cy="1181100"/>
          </a:xfrm>
          <a:prstGeom prst="rect">
            <a:avLst/>
          </a:prstGeom>
          <a:noFill/>
          <a:ln/>
        </p:spPr>
        <p:txBody>
          <a:bodyPr wrap="square" lIns="0" tIns="0" rIns="0" bIns="0" rtlCol="0" anchor="t">
            <a:normAutofit/>
          </a:bodyPr>
          <a:lstStyle/>
          <a:p>
            <a:pPr algn="l" indent="0" marL="0">
              <a:buNone/>
            </a:pPr>
            <a:r>
              <a:rPr lang="en-US" sz="3400" b="1" dirty="0">
                <a:solidFill>
                  <a:srgbClr val="0F172A"/>
                </a:solidFill>
                <a:latin typeface="Aptos Display" pitchFamily="34" charset="0"/>
                <a:ea typeface="Aptos Display" pitchFamily="34" charset="-122"/>
                <a:cs typeface="Aptos Display" pitchFamily="34" charset="-120"/>
              </a:rPr>
              <a:t>Şifreli Veri Saklama ve Yetkili Paylaşım Katmanı</a:t>
            </a:r>
            <a:endParaRPr lang="en-US" sz="3400" dirty="0"/>
          </a:p>
        </p:txBody>
      </p:sp>
      <p:sp>
        <p:nvSpPr>
          <p:cNvPr id="9" name="Text 7"/>
          <p:cNvSpPr/>
          <p:nvPr/>
        </p:nvSpPr>
        <p:spPr>
          <a:xfrm>
            <a:off x="742950" y="2876550"/>
            <a:ext cx="6191250" cy="552450"/>
          </a:xfrm>
          <a:prstGeom prst="rect">
            <a:avLst/>
          </a:prstGeom>
          <a:noFill/>
          <a:ln/>
        </p:spPr>
        <p:txBody>
          <a:bodyPr wrap="square" lIns="0" tIns="0" rIns="0" bIns="0" rtlCol="0" anchor="t">
            <a:normAutofit/>
          </a:bodyPr>
          <a:lstStyle/>
          <a:p>
            <a:pPr algn="l" indent="0" marL="0">
              <a:buNone/>
            </a:pPr>
            <a:r>
              <a:rPr lang="en-US" sz="1700" dirty="0">
                <a:solidFill>
                  <a:srgbClr val="243044"/>
                </a:solidFill>
                <a:latin typeface="Aptos" pitchFamily="34" charset="0"/>
                <a:ea typeface="Aptos" pitchFamily="34" charset="-122"/>
                <a:cs typeface="Aptos" pitchFamily="34" charset="-120"/>
              </a:rPr>
              <a:t>Daflow veri analiz platformuna eklenen platform seviyesinde güvenlik katmanı.</a:t>
            </a:r>
            <a:endParaRPr lang="en-US" sz="1700" dirty="0"/>
          </a:p>
        </p:txBody>
      </p:sp>
      <p:sp>
        <p:nvSpPr>
          <p:cNvPr id="10" name="Shape 8"/>
          <p:cNvSpPr/>
          <p:nvPr/>
        </p:nvSpPr>
        <p:spPr>
          <a:xfrm>
            <a:off x="742950" y="4114800"/>
            <a:ext cx="2000250" cy="19050"/>
          </a:xfrm>
          <a:prstGeom prst="rect">
            <a:avLst/>
          </a:prstGeom>
          <a:solidFill>
            <a:srgbClr val="38BDF8"/>
          </a:solidFill>
          <a:ln w="12700">
            <a:solidFill>
              <a:srgbClr val="38BDF8">
                <a:alpha val="0"/>
              </a:srgbClr>
            </a:solidFill>
            <a:prstDash val="solid"/>
          </a:ln>
        </p:spPr>
      </p:sp>
      <p:sp>
        <p:nvSpPr>
          <p:cNvPr id="11" name="Text 9"/>
          <p:cNvSpPr/>
          <p:nvPr/>
        </p:nvSpPr>
        <p:spPr>
          <a:xfrm>
            <a:off x="742950" y="4362450"/>
            <a:ext cx="6667500" cy="23812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Bilgi Güvenliği  |  Öğrenci: __________  |  Tarih: __________</a:t>
            </a:r>
            <a:endParaRPr lang="en-US" sz="1350" dirty="0"/>
          </a:p>
        </p:txBody>
      </p:sp>
      <p:sp>
        <p:nvSpPr>
          <p:cNvPr id="12" name="Shape 10"/>
          <p:cNvSpPr/>
          <p:nvPr/>
        </p:nvSpPr>
        <p:spPr>
          <a:xfrm>
            <a:off x="7858125" y="1428750"/>
            <a:ext cx="2809875" cy="2238375"/>
          </a:xfrm>
          <a:prstGeom prst="roundRect">
            <a:avLst/>
          </a:prstGeom>
          <a:solidFill>
            <a:srgbClr val="0B1220"/>
          </a:solidFill>
          <a:ln w="12700">
            <a:solidFill>
              <a:srgbClr val="38BDF8"/>
            </a:solidFill>
            <a:prstDash val="solid"/>
          </a:ln>
        </p:spPr>
      </p:sp>
      <p:sp>
        <p:nvSpPr>
          <p:cNvPr id="13" name="Text 11"/>
          <p:cNvSpPr/>
          <p:nvPr/>
        </p:nvSpPr>
        <p:spPr>
          <a:xfrm>
            <a:off x="8229600" y="1847850"/>
            <a:ext cx="2095500" cy="952500"/>
          </a:xfrm>
          <a:prstGeom prst="rect">
            <a:avLst/>
          </a:prstGeom>
          <a:noFill/>
          <a:ln/>
        </p:spPr>
        <p:txBody>
          <a:bodyPr wrap="square" lIns="0" tIns="0" rIns="0" bIns="0" rtlCol="0" anchor="t">
            <a:normAutofit/>
          </a:bodyPr>
          <a:lstStyle/>
          <a:p>
            <a:pPr algn="ctr" indent="0" marL="0">
              <a:buNone/>
            </a:pPr>
            <a:r>
              <a:rPr lang="en-US" sz="2500" b="1" dirty="0">
                <a:solidFill>
                  <a:srgbClr val="FFFFFF"/>
                </a:solidFill>
                <a:latin typeface="Aptos" pitchFamily="34" charset="0"/>
                <a:ea typeface="Aptos" pitchFamily="34" charset="-122"/>
                <a:cs typeface="Aptos" pitchFamily="34" charset="-120"/>
              </a:rPr>
              <a:t>Encrypted</a:t>
            </a:r>
            <a:endParaRPr lang="en-US" sz="2500" dirty="0"/>
          </a:p>
          <a:p>
            <a:pPr algn="ctr" indent="0" marL="0">
              <a:buNone/>
            </a:pPr>
            <a:r>
              <a:rPr lang="en-US" sz="2500" b="1" dirty="0">
                <a:solidFill>
                  <a:srgbClr val="FFFFFF"/>
                </a:solidFill>
                <a:latin typeface="Aptos" pitchFamily="34" charset="0"/>
                <a:ea typeface="Aptos" pitchFamily="34" charset="-122"/>
                <a:cs typeface="Aptos" pitchFamily="34" charset="-120"/>
              </a:rPr>
              <a:t>Dataset</a:t>
            </a:r>
            <a:endParaRPr lang="en-US" sz="2500" dirty="0"/>
          </a:p>
          <a:p>
            <a:pPr algn="ctr" indent="0" marL="0">
              <a:buNone/>
            </a:pPr>
            <a:r>
              <a:rPr lang="en-US" sz="2500" b="1" dirty="0">
                <a:solidFill>
                  <a:srgbClr val="FFFFFF"/>
                </a:solidFill>
                <a:latin typeface="Aptos" pitchFamily="34" charset="0"/>
                <a:ea typeface="Aptos" pitchFamily="34" charset="-122"/>
                <a:cs typeface="Aptos" pitchFamily="34" charset="-120"/>
              </a:rPr>
              <a:t>Storage</a:t>
            </a:r>
            <a:endParaRPr lang="en-US" sz="2500" dirty="0"/>
          </a:p>
        </p:txBody>
      </p:sp>
      <p:sp>
        <p:nvSpPr>
          <p:cNvPr id="14" name="Shape 12"/>
          <p:cNvSpPr/>
          <p:nvPr/>
        </p:nvSpPr>
        <p:spPr>
          <a:xfrm>
            <a:off x="8629650" y="3190875"/>
            <a:ext cx="1219200" cy="400050"/>
          </a:xfrm>
          <a:prstGeom prst="roundRect">
            <a:avLst/>
          </a:prstGeom>
          <a:solidFill>
            <a:srgbClr val="22C55E"/>
          </a:solidFill>
          <a:ln w="12700">
            <a:solidFill>
              <a:srgbClr val="22C55E">
                <a:alpha val="0"/>
              </a:srgbClr>
            </a:solidFill>
            <a:prstDash val="solid"/>
          </a:ln>
        </p:spPr>
      </p:sp>
      <p:sp>
        <p:nvSpPr>
          <p:cNvPr id="15" name="Text 13"/>
          <p:cNvSpPr/>
          <p:nvPr/>
        </p:nvSpPr>
        <p:spPr>
          <a:xfrm>
            <a:off x="8848725" y="3295650"/>
            <a:ext cx="781050" cy="190500"/>
          </a:xfrm>
          <a:prstGeom prst="rect">
            <a:avLst/>
          </a:prstGeom>
          <a:noFill/>
          <a:ln/>
        </p:spPr>
        <p:txBody>
          <a:bodyPr wrap="square" lIns="0" tIns="0" rIns="0" bIns="0" rtlCol="0" anchor="t">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AES-256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02</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Problem Tanımı</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Veri analiz platformlarında güvenlik sadece dosya yüklemekten ibaret değildir.</a:t>
            </a:r>
            <a:endParaRPr lang="en-US" sz="1550" dirty="0"/>
          </a:p>
        </p:txBody>
      </p:sp>
      <p:sp>
        <p:nvSpPr>
          <p:cNvPr id="7" name="Shape 5"/>
          <p:cNvSpPr/>
          <p:nvPr/>
        </p:nvSpPr>
        <p:spPr>
          <a:xfrm>
            <a:off x="781050" y="2076450"/>
            <a:ext cx="3143250" cy="2000250"/>
          </a:xfrm>
          <a:prstGeom prst="roundRect">
            <a:avLst/>
          </a:prstGeom>
          <a:solidFill>
            <a:srgbClr val="F8FBFF"/>
          </a:solidFill>
          <a:ln w="12700">
            <a:solidFill>
              <a:srgbClr val="D7E3F0"/>
            </a:solidFill>
            <a:prstDash val="solid"/>
          </a:ln>
        </p:spPr>
      </p:sp>
      <p:sp>
        <p:nvSpPr>
          <p:cNvPr id="8" name="Shape 6"/>
          <p:cNvSpPr/>
          <p:nvPr/>
        </p:nvSpPr>
        <p:spPr>
          <a:xfrm>
            <a:off x="781050" y="2076450"/>
            <a:ext cx="66675" cy="2000250"/>
          </a:xfrm>
          <a:prstGeom prst="rect">
            <a:avLst/>
          </a:prstGeom>
          <a:solidFill>
            <a:srgbClr val="38BDF8"/>
          </a:solidFill>
          <a:ln w="12700">
            <a:solidFill>
              <a:srgbClr val="38BDF8">
                <a:alpha val="0"/>
              </a:srgbClr>
            </a:solidFill>
            <a:prstDash val="solid"/>
          </a:ln>
        </p:spPr>
      </p:sp>
      <p:sp>
        <p:nvSpPr>
          <p:cNvPr id="9" name="Text 7"/>
          <p:cNvSpPr/>
          <p:nvPr/>
        </p:nvSpPr>
        <p:spPr>
          <a:xfrm>
            <a:off x="1000125" y="2286000"/>
            <a:ext cx="2743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Hassas veri yüklenir</a:t>
            </a:r>
            <a:endParaRPr lang="en-US" sz="1700" dirty="0"/>
          </a:p>
        </p:txBody>
      </p:sp>
      <p:sp>
        <p:nvSpPr>
          <p:cNvPr id="10" name="Text 8"/>
          <p:cNvSpPr/>
          <p:nvPr/>
        </p:nvSpPr>
        <p:spPr>
          <a:xfrm>
            <a:off x="1000125" y="2628900"/>
            <a:ext cx="2743200" cy="1333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Kullanıcılar satış, müşteri, finans veya kurumsal dosyalar yükleyebilir.</a:t>
            </a:r>
            <a:endParaRPr lang="en-US" sz="1350" dirty="0"/>
          </a:p>
        </p:txBody>
      </p:sp>
      <p:sp>
        <p:nvSpPr>
          <p:cNvPr id="11" name="Shape 9"/>
          <p:cNvSpPr/>
          <p:nvPr/>
        </p:nvSpPr>
        <p:spPr>
          <a:xfrm>
            <a:off x="4524375" y="2076450"/>
            <a:ext cx="3143250" cy="2000250"/>
          </a:xfrm>
          <a:prstGeom prst="roundRect">
            <a:avLst/>
          </a:prstGeom>
          <a:solidFill>
            <a:srgbClr val="F8FBFF"/>
          </a:solidFill>
          <a:ln w="12700">
            <a:solidFill>
              <a:srgbClr val="D7E3F0"/>
            </a:solidFill>
            <a:prstDash val="solid"/>
          </a:ln>
        </p:spPr>
      </p:sp>
      <p:sp>
        <p:nvSpPr>
          <p:cNvPr id="12" name="Shape 10"/>
          <p:cNvSpPr/>
          <p:nvPr/>
        </p:nvSpPr>
        <p:spPr>
          <a:xfrm>
            <a:off x="4524375" y="2076450"/>
            <a:ext cx="66675" cy="2000250"/>
          </a:xfrm>
          <a:prstGeom prst="rect">
            <a:avLst/>
          </a:prstGeom>
          <a:solidFill>
            <a:srgbClr val="EF4444"/>
          </a:solidFill>
          <a:ln w="12700">
            <a:solidFill>
              <a:srgbClr val="EF4444">
                <a:alpha val="0"/>
              </a:srgbClr>
            </a:solidFill>
            <a:prstDash val="solid"/>
          </a:ln>
        </p:spPr>
      </p:sp>
      <p:sp>
        <p:nvSpPr>
          <p:cNvPr id="13" name="Text 11"/>
          <p:cNvSpPr/>
          <p:nvPr/>
        </p:nvSpPr>
        <p:spPr>
          <a:xfrm>
            <a:off x="4743450" y="2286000"/>
            <a:ext cx="2743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Yetkisiz işlem riski</a:t>
            </a:r>
            <a:endParaRPr lang="en-US" sz="1700" dirty="0"/>
          </a:p>
        </p:txBody>
      </p:sp>
      <p:sp>
        <p:nvSpPr>
          <p:cNvPr id="14" name="Text 12"/>
          <p:cNvSpPr/>
          <p:nvPr/>
        </p:nvSpPr>
        <p:spPr>
          <a:xfrm>
            <a:off x="4743450" y="2628900"/>
            <a:ext cx="2743200" cy="1333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Verinin izinsiz görülmesi, analiz edilmesi veya dışa aktarılması veri sızıntısına yol açabilir.</a:t>
            </a:r>
            <a:endParaRPr lang="en-US" sz="1350" dirty="0"/>
          </a:p>
        </p:txBody>
      </p:sp>
      <p:sp>
        <p:nvSpPr>
          <p:cNvPr id="15" name="Shape 13"/>
          <p:cNvSpPr/>
          <p:nvPr/>
        </p:nvSpPr>
        <p:spPr>
          <a:xfrm>
            <a:off x="8267700" y="2076450"/>
            <a:ext cx="3143250" cy="2000250"/>
          </a:xfrm>
          <a:prstGeom prst="roundRect">
            <a:avLst/>
          </a:prstGeom>
          <a:solidFill>
            <a:srgbClr val="F8FBFF"/>
          </a:solidFill>
          <a:ln w="12700">
            <a:solidFill>
              <a:srgbClr val="D7E3F0"/>
            </a:solidFill>
            <a:prstDash val="solid"/>
          </a:ln>
        </p:spPr>
      </p:sp>
      <p:sp>
        <p:nvSpPr>
          <p:cNvPr id="16" name="Shape 14"/>
          <p:cNvSpPr/>
          <p:nvPr/>
        </p:nvSpPr>
        <p:spPr>
          <a:xfrm>
            <a:off x="8267700" y="2076450"/>
            <a:ext cx="66675" cy="2000250"/>
          </a:xfrm>
          <a:prstGeom prst="rect">
            <a:avLst/>
          </a:prstGeom>
          <a:solidFill>
            <a:srgbClr val="22C55E"/>
          </a:solidFill>
          <a:ln w="12700">
            <a:solidFill>
              <a:srgbClr val="22C55E">
                <a:alpha val="0"/>
              </a:srgbClr>
            </a:solidFill>
            <a:prstDash val="solid"/>
          </a:ln>
        </p:spPr>
      </p:sp>
      <p:sp>
        <p:nvSpPr>
          <p:cNvPr id="17" name="Text 15"/>
          <p:cNvSpPr/>
          <p:nvPr/>
        </p:nvSpPr>
        <p:spPr>
          <a:xfrm>
            <a:off x="8486775" y="2286000"/>
            <a:ext cx="2743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Kontrol ihtiyacı</a:t>
            </a:r>
            <a:endParaRPr lang="en-US" sz="1700" dirty="0"/>
          </a:p>
        </p:txBody>
      </p:sp>
      <p:sp>
        <p:nvSpPr>
          <p:cNvPr id="18" name="Text 16"/>
          <p:cNvSpPr/>
          <p:nvPr/>
        </p:nvSpPr>
        <p:spPr>
          <a:xfrm>
            <a:off x="8486775" y="2628900"/>
            <a:ext cx="2743200" cy="1333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Kim, hangi veriye, hangi işlem için erişti sorusu sistem tarafından cevaplanmalıdır.</a:t>
            </a:r>
            <a:endParaRPr lang="en-US" sz="1350" dirty="0"/>
          </a:p>
        </p:txBody>
      </p:sp>
      <p:sp>
        <p:nvSpPr>
          <p:cNvPr id="19" name="Shape 17"/>
          <p:cNvSpPr/>
          <p:nvPr/>
        </p:nvSpPr>
        <p:spPr>
          <a:xfrm>
            <a:off x="1143000" y="4838700"/>
            <a:ext cx="104775" cy="104775"/>
          </a:xfrm>
          <a:prstGeom prst="ellipse">
            <a:avLst/>
          </a:prstGeom>
          <a:solidFill>
            <a:srgbClr val="38BDF8"/>
          </a:solidFill>
          <a:ln w="12700">
            <a:solidFill>
              <a:srgbClr val="38BDF8">
                <a:alpha val="0"/>
              </a:srgbClr>
            </a:solidFill>
            <a:prstDash val="solid"/>
          </a:ln>
        </p:spPr>
      </p:sp>
      <p:sp>
        <p:nvSpPr>
          <p:cNvPr id="20" name="Text 18"/>
          <p:cNvSpPr/>
          <p:nvPr/>
        </p:nvSpPr>
        <p:spPr>
          <a:xfrm>
            <a:off x="1381125" y="4762500"/>
            <a:ext cx="8334375" cy="361950"/>
          </a:xfrm>
          <a:prstGeom prst="rect">
            <a:avLst/>
          </a:prstGeom>
          <a:noFill/>
          <a:ln/>
        </p:spPr>
        <p:txBody>
          <a:bodyPr wrap="square" lIns="0" tIns="0" rIns="0" bIns="0" rtlCol="0" anchor="t">
            <a:normAutofit/>
          </a:bodyPr>
          <a:lstStyle/>
          <a:p>
            <a:pPr algn="l" indent="0" marL="0">
              <a:buNone/>
            </a:pPr>
            <a:r>
              <a:rPr lang="en-US" sz="1800" dirty="0">
                <a:solidFill>
                  <a:srgbClr val="243044"/>
                </a:solidFill>
                <a:latin typeface="Aptos" pitchFamily="34" charset="0"/>
                <a:ea typeface="Aptos" pitchFamily="34" charset="-122"/>
                <a:cs typeface="Aptos" pitchFamily="34" charset="-120"/>
              </a:rPr>
              <a:t>Analiz yeteneği kadar erişim denetimi de önemlidir.</a:t>
            </a:r>
            <a:endParaRPr lang="en-US" sz="1800" dirty="0"/>
          </a:p>
        </p:txBody>
      </p:sp>
      <p:sp>
        <p:nvSpPr>
          <p:cNvPr id="21" name="Shape 19"/>
          <p:cNvSpPr/>
          <p:nvPr/>
        </p:nvSpPr>
        <p:spPr>
          <a:xfrm>
            <a:off x="1143000" y="5391150"/>
            <a:ext cx="104775" cy="104775"/>
          </a:xfrm>
          <a:prstGeom prst="ellipse">
            <a:avLst/>
          </a:prstGeom>
          <a:solidFill>
            <a:srgbClr val="38BDF8"/>
          </a:solidFill>
          <a:ln w="12700">
            <a:solidFill>
              <a:srgbClr val="38BDF8">
                <a:alpha val="0"/>
              </a:srgbClr>
            </a:solidFill>
            <a:prstDash val="solid"/>
          </a:ln>
        </p:spPr>
      </p:sp>
      <p:sp>
        <p:nvSpPr>
          <p:cNvPr id="22" name="Text 20"/>
          <p:cNvSpPr/>
          <p:nvPr/>
        </p:nvSpPr>
        <p:spPr>
          <a:xfrm>
            <a:off x="1381125" y="5314950"/>
            <a:ext cx="8334375" cy="361950"/>
          </a:xfrm>
          <a:prstGeom prst="rect">
            <a:avLst/>
          </a:prstGeom>
          <a:noFill/>
          <a:ln/>
        </p:spPr>
        <p:txBody>
          <a:bodyPr wrap="square" lIns="0" tIns="0" rIns="0" bIns="0" rtlCol="0" anchor="t">
            <a:normAutofit/>
          </a:bodyPr>
          <a:lstStyle/>
          <a:p>
            <a:pPr algn="l" indent="0" marL="0">
              <a:buNone/>
            </a:pPr>
            <a:r>
              <a:rPr lang="en-US" sz="1800" dirty="0">
                <a:solidFill>
                  <a:srgbClr val="243044"/>
                </a:solidFill>
                <a:latin typeface="Aptos" pitchFamily="34" charset="0"/>
                <a:ea typeface="Aptos" pitchFamily="34" charset="-122"/>
                <a:cs typeface="Aptos" pitchFamily="34" charset="-120"/>
              </a:rPr>
              <a:t>Veri kullanımı izlenebilir ve sınırlandırılabilir olmalıdır.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03</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Projenin Amacı</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Daflow’a varsayılan güvenlik davranışı kazandırmak.</a:t>
            </a:r>
            <a:endParaRPr lang="en-US" sz="1550" dirty="0"/>
          </a:p>
        </p:txBody>
      </p:sp>
      <p:sp>
        <p:nvSpPr>
          <p:cNvPr id="7" name="Shape 5"/>
          <p:cNvSpPr/>
          <p:nvPr/>
        </p:nvSpPr>
        <p:spPr>
          <a:xfrm>
            <a:off x="1000125" y="2171700"/>
            <a:ext cx="104775" cy="104775"/>
          </a:xfrm>
          <a:prstGeom prst="ellipse">
            <a:avLst/>
          </a:prstGeom>
          <a:solidFill>
            <a:srgbClr val="22C55E"/>
          </a:solidFill>
          <a:ln w="12700">
            <a:solidFill>
              <a:srgbClr val="22C55E">
                <a:alpha val="0"/>
              </a:srgbClr>
            </a:solidFill>
            <a:prstDash val="solid"/>
          </a:ln>
        </p:spPr>
      </p:sp>
      <p:sp>
        <p:nvSpPr>
          <p:cNvPr id="8" name="Text 6"/>
          <p:cNvSpPr/>
          <p:nvPr/>
        </p:nvSpPr>
        <p:spPr>
          <a:xfrm>
            <a:off x="1238250" y="20955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Datasetleri güvenli ve şifreli saklamak</a:t>
            </a:r>
            <a:endParaRPr lang="en-US" sz="2100" dirty="0"/>
          </a:p>
        </p:txBody>
      </p:sp>
      <p:sp>
        <p:nvSpPr>
          <p:cNvPr id="9" name="Shape 7"/>
          <p:cNvSpPr/>
          <p:nvPr/>
        </p:nvSpPr>
        <p:spPr>
          <a:xfrm>
            <a:off x="1000125" y="2819400"/>
            <a:ext cx="104775" cy="104775"/>
          </a:xfrm>
          <a:prstGeom prst="ellipse">
            <a:avLst/>
          </a:prstGeom>
          <a:solidFill>
            <a:srgbClr val="22C55E"/>
          </a:solidFill>
          <a:ln w="12700">
            <a:solidFill>
              <a:srgbClr val="22C55E">
                <a:alpha val="0"/>
              </a:srgbClr>
            </a:solidFill>
            <a:prstDash val="solid"/>
          </a:ln>
        </p:spPr>
      </p:sp>
      <p:sp>
        <p:nvSpPr>
          <p:cNvPr id="10" name="Text 8"/>
          <p:cNvSpPr/>
          <p:nvPr/>
        </p:nvSpPr>
        <p:spPr>
          <a:xfrm>
            <a:off x="1238250" y="27432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Kullanıcılar arasında izin bazlı paylaşım sağlamak</a:t>
            </a:r>
            <a:endParaRPr lang="en-US" sz="2100" dirty="0"/>
          </a:p>
        </p:txBody>
      </p:sp>
      <p:sp>
        <p:nvSpPr>
          <p:cNvPr id="11" name="Shape 9"/>
          <p:cNvSpPr/>
          <p:nvPr/>
        </p:nvSpPr>
        <p:spPr>
          <a:xfrm>
            <a:off x="1000125" y="3467100"/>
            <a:ext cx="104775" cy="104775"/>
          </a:xfrm>
          <a:prstGeom prst="ellipse">
            <a:avLst/>
          </a:prstGeom>
          <a:solidFill>
            <a:srgbClr val="22C55E"/>
          </a:solidFill>
          <a:ln w="12700">
            <a:solidFill>
              <a:srgbClr val="22C55E">
                <a:alpha val="0"/>
              </a:srgbClr>
            </a:solidFill>
            <a:prstDash val="solid"/>
          </a:ln>
        </p:spPr>
      </p:sp>
      <p:sp>
        <p:nvSpPr>
          <p:cNvPr id="12" name="Text 10"/>
          <p:cNvSpPr/>
          <p:nvPr/>
        </p:nvSpPr>
        <p:spPr>
          <a:xfrm>
            <a:off x="1238250" y="33909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Workflow çalışmadan önce analyze yetkisini kontrol etmek</a:t>
            </a:r>
            <a:endParaRPr lang="en-US" sz="2100" dirty="0"/>
          </a:p>
        </p:txBody>
      </p:sp>
      <p:sp>
        <p:nvSpPr>
          <p:cNvPr id="13" name="Shape 11"/>
          <p:cNvSpPr/>
          <p:nvPr/>
        </p:nvSpPr>
        <p:spPr>
          <a:xfrm>
            <a:off x="1000125" y="4114800"/>
            <a:ext cx="104775" cy="104775"/>
          </a:xfrm>
          <a:prstGeom prst="ellipse">
            <a:avLst/>
          </a:prstGeom>
          <a:solidFill>
            <a:srgbClr val="22C55E"/>
          </a:solidFill>
          <a:ln w="12700">
            <a:solidFill>
              <a:srgbClr val="22C55E">
                <a:alpha val="0"/>
              </a:srgbClr>
            </a:solidFill>
            <a:prstDash val="solid"/>
          </a:ln>
        </p:spPr>
      </p:sp>
      <p:sp>
        <p:nvSpPr>
          <p:cNvPr id="14" name="Text 12"/>
          <p:cNvSpPr/>
          <p:nvPr/>
        </p:nvSpPr>
        <p:spPr>
          <a:xfrm>
            <a:off x="1238250" y="40386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Export işlemlerini izinlere göre sınırlandırmak</a:t>
            </a:r>
            <a:endParaRPr lang="en-US" sz="2100" dirty="0"/>
          </a:p>
        </p:txBody>
      </p:sp>
      <p:sp>
        <p:nvSpPr>
          <p:cNvPr id="15" name="Shape 13"/>
          <p:cNvSpPr/>
          <p:nvPr/>
        </p:nvSpPr>
        <p:spPr>
          <a:xfrm>
            <a:off x="1000125" y="4762500"/>
            <a:ext cx="104775" cy="104775"/>
          </a:xfrm>
          <a:prstGeom prst="ellipse">
            <a:avLst/>
          </a:prstGeom>
          <a:solidFill>
            <a:srgbClr val="22C55E"/>
          </a:solidFill>
          <a:ln w="12700">
            <a:solidFill>
              <a:srgbClr val="22C55E">
                <a:alpha val="0"/>
              </a:srgbClr>
            </a:solidFill>
            <a:prstDash val="solid"/>
          </a:ln>
        </p:spPr>
      </p:sp>
      <p:sp>
        <p:nvSpPr>
          <p:cNvPr id="16" name="Text 14"/>
          <p:cNvSpPr/>
          <p:nvPr/>
        </p:nvSpPr>
        <p:spPr>
          <a:xfrm>
            <a:off x="1238250" y="46863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Tüm erişim denemelerini access log olarak kaydetmek</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04</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Daflow Nedir?</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CSV / Excel verilerini workflow tabanlı analiz platformuna dönüştüren sistem.</a:t>
            </a:r>
            <a:endParaRPr lang="en-US" sz="1550" dirty="0"/>
          </a:p>
        </p:txBody>
      </p:sp>
      <p:sp>
        <p:nvSpPr>
          <p:cNvPr id="7" name="Shape 5"/>
          <p:cNvSpPr/>
          <p:nvPr/>
        </p:nvSpPr>
        <p:spPr>
          <a:xfrm>
            <a:off x="1238250" y="2190750"/>
            <a:ext cx="1857375" cy="723900"/>
          </a:xfrm>
          <a:prstGeom prst="roundRect">
            <a:avLst/>
          </a:prstGeom>
          <a:solidFill>
            <a:srgbClr val="F8FBFF"/>
          </a:solidFill>
          <a:ln w="12700">
            <a:solidFill>
              <a:srgbClr val="D7E3F0"/>
            </a:solidFill>
            <a:prstDash val="solid"/>
          </a:ln>
        </p:spPr>
      </p:sp>
      <p:sp>
        <p:nvSpPr>
          <p:cNvPr id="8" name="Text 6"/>
          <p:cNvSpPr/>
          <p:nvPr/>
        </p:nvSpPr>
        <p:spPr>
          <a:xfrm>
            <a:off x="1371600" y="2419350"/>
            <a:ext cx="1590675" cy="228600"/>
          </a:xfrm>
          <a:prstGeom prst="rect">
            <a:avLst/>
          </a:prstGeom>
          <a:noFill/>
          <a:ln/>
        </p:spPr>
        <p:txBody>
          <a:bodyPr wrap="square" lIns="0" tIns="0" rIns="0" bIns="0" rtlCol="0" anchor="t">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Frontend</a:t>
            </a:r>
            <a:endParaRPr lang="en-US" sz="1450" dirty="0"/>
          </a:p>
        </p:txBody>
      </p:sp>
      <p:sp>
        <p:nvSpPr>
          <p:cNvPr id="9" name="Text 7"/>
          <p:cNvSpPr/>
          <p:nvPr/>
        </p:nvSpPr>
        <p:spPr>
          <a:xfrm>
            <a:off x="3209925" y="2409825"/>
            <a:ext cx="285750" cy="22860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10" name="Shape 8"/>
          <p:cNvSpPr/>
          <p:nvPr/>
        </p:nvSpPr>
        <p:spPr>
          <a:xfrm>
            <a:off x="3619500" y="2190750"/>
            <a:ext cx="1857375" cy="723900"/>
          </a:xfrm>
          <a:prstGeom prst="roundRect">
            <a:avLst/>
          </a:prstGeom>
          <a:solidFill>
            <a:srgbClr val="F8FBFF"/>
          </a:solidFill>
          <a:ln w="12700">
            <a:solidFill>
              <a:srgbClr val="D7E3F0"/>
            </a:solidFill>
            <a:prstDash val="solid"/>
          </a:ln>
        </p:spPr>
      </p:sp>
      <p:sp>
        <p:nvSpPr>
          <p:cNvPr id="11" name="Text 9"/>
          <p:cNvSpPr/>
          <p:nvPr/>
        </p:nvSpPr>
        <p:spPr>
          <a:xfrm>
            <a:off x="3752850" y="2419350"/>
            <a:ext cx="1590675" cy="228600"/>
          </a:xfrm>
          <a:prstGeom prst="rect">
            <a:avLst/>
          </a:prstGeom>
          <a:noFill/>
          <a:ln/>
        </p:spPr>
        <p:txBody>
          <a:bodyPr wrap="square" lIns="0" tIns="0" rIns="0" bIns="0" rtlCol="0" anchor="t">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Backend API</a:t>
            </a:r>
            <a:endParaRPr lang="en-US" sz="1450" dirty="0"/>
          </a:p>
        </p:txBody>
      </p:sp>
      <p:sp>
        <p:nvSpPr>
          <p:cNvPr id="12" name="Text 10"/>
          <p:cNvSpPr/>
          <p:nvPr/>
        </p:nvSpPr>
        <p:spPr>
          <a:xfrm>
            <a:off x="5591175" y="2409825"/>
            <a:ext cx="285750" cy="22860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13" name="Shape 11"/>
          <p:cNvSpPr/>
          <p:nvPr/>
        </p:nvSpPr>
        <p:spPr>
          <a:xfrm>
            <a:off x="6000750" y="2190750"/>
            <a:ext cx="1857375" cy="723900"/>
          </a:xfrm>
          <a:prstGeom prst="roundRect">
            <a:avLst/>
          </a:prstGeom>
          <a:solidFill>
            <a:srgbClr val="F8FBFF"/>
          </a:solidFill>
          <a:ln w="12700">
            <a:solidFill>
              <a:srgbClr val="D7E3F0"/>
            </a:solidFill>
            <a:prstDash val="solid"/>
          </a:ln>
        </p:spPr>
      </p:sp>
      <p:sp>
        <p:nvSpPr>
          <p:cNvPr id="14" name="Text 12"/>
          <p:cNvSpPr/>
          <p:nvPr/>
        </p:nvSpPr>
        <p:spPr>
          <a:xfrm>
            <a:off x="6134100" y="2419350"/>
            <a:ext cx="1590675" cy="228600"/>
          </a:xfrm>
          <a:prstGeom prst="rect">
            <a:avLst/>
          </a:prstGeom>
          <a:noFill/>
          <a:ln/>
        </p:spPr>
        <p:txBody>
          <a:bodyPr wrap="square" lIns="0" tIns="0" rIns="0" bIns="0" rtlCol="0" anchor="t">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Auth &amp; Permission</a:t>
            </a:r>
            <a:endParaRPr lang="en-US" sz="1450" dirty="0"/>
          </a:p>
        </p:txBody>
      </p:sp>
      <p:sp>
        <p:nvSpPr>
          <p:cNvPr id="15" name="Text 13"/>
          <p:cNvSpPr/>
          <p:nvPr/>
        </p:nvSpPr>
        <p:spPr>
          <a:xfrm>
            <a:off x="7972425" y="2409825"/>
            <a:ext cx="285750" cy="22860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16" name="Shape 14"/>
          <p:cNvSpPr/>
          <p:nvPr/>
        </p:nvSpPr>
        <p:spPr>
          <a:xfrm>
            <a:off x="8382000" y="2190750"/>
            <a:ext cx="1857375" cy="723900"/>
          </a:xfrm>
          <a:prstGeom prst="roundRect">
            <a:avLst/>
          </a:prstGeom>
          <a:solidFill>
            <a:srgbClr val="DCFCE7"/>
          </a:solidFill>
          <a:ln w="12700">
            <a:solidFill>
              <a:srgbClr val="22C55E"/>
            </a:solidFill>
            <a:prstDash val="solid"/>
          </a:ln>
        </p:spPr>
      </p:sp>
      <p:sp>
        <p:nvSpPr>
          <p:cNvPr id="17" name="Text 15"/>
          <p:cNvSpPr/>
          <p:nvPr/>
        </p:nvSpPr>
        <p:spPr>
          <a:xfrm>
            <a:off x="8515350" y="2419350"/>
            <a:ext cx="1590675" cy="228600"/>
          </a:xfrm>
          <a:prstGeom prst="rect">
            <a:avLst/>
          </a:prstGeom>
          <a:noFill/>
          <a:ln/>
        </p:spPr>
        <p:txBody>
          <a:bodyPr wrap="square" lIns="0" tIns="0" rIns="0" bIns="0" rtlCol="0" anchor="t">
            <a:normAutofit/>
          </a:bodyPr>
          <a:lstStyle/>
          <a:p>
            <a:pPr algn="ctr" indent="0" marL="0">
              <a:buNone/>
            </a:pPr>
            <a:r>
              <a:rPr lang="en-US" sz="1450" b="1" dirty="0">
                <a:solidFill>
                  <a:srgbClr val="166534"/>
                </a:solidFill>
                <a:latin typeface="Aptos" pitchFamily="34" charset="0"/>
                <a:ea typeface="Aptos" pitchFamily="34" charset="-122"/>
                <a:cs typeface="Aptos" pitchFamily="34" charset="-120"/>
              </a:rPr>
              <a:t>SecureShare</a:t>
            </a:r>
            <a:endParaRPr lang="en-US" sz="1450" dirty="0"/>
          </a:p>
        </p:txBody>
      </p:sp>
      <p:sp>
        <p:nvSpPr>
          <p:cNvPr id="18" name="Shape 16"/>
          <p:cNvSpPr/>
          <p:nvPr/>
        </p:nvSpPr>
        <p:spPr>
          <a:xfrm>
            <a:off x="1238250" y="3667125"/>
            <a:ext cx="1857375" cy="723900"/>
          </a:xfrm>
          <a:prstGeom prst="roundRect">
            <a:avLst/>
          </a:prstGeom>
          <a:solidFill>
            <a:srgbClr val="F8FBFF"/>
          </a:solidFill>
          <a:ln w="12700">
            <a:solidFill>
              <a:srgbClr val="D7E3F0"/>
            </a:solidFill>
            <a:prstDash val="solid"/>
          </a:ln>
        </p:spPr>
      </p:sp>
      <p:sp>
        <p:nvSpPr>
          <p:cNvPr id="19" name="Text 17"/>
          <p:cNvSpPr/>
          <p:nvPr/>
        </p:nvSpPr>
        <p:spPr>
          <a:xfrm>
            <a:off x="1371600" y="3895725"/>
            <a:ext cx="1590675" cy="228600"/>
          </a:xfrm>
          <a:prstGeom prst="rect">
            <a:avLst/>
          </a:prstGeom>
          <a:noFill/>
          <a:ln/>
        </p:spPr>
        <p:txBody>
          <a:bodyPr wrap="square" lIns="0" tIns="0" rIns="0" bIns="0" rtlCol="0" anchor="t">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Dataset Storage</a:t>
            </a:r>
            <a:endParaRPr lang="en-US" sz="1450" dirty="0"/>
          </a:p>
        </p:txBody>
      </p:sp>
      <p:sp>
        <p:nvSpPr>
          <p:cNvPr id="20" name="Shape 18"/>
          <p:cNvSpPr/>
          <p:nvPr/>
        </p:nvSpPr>
        <p:spPr>
          <a:xfrm>
            <a:off x="3619500" y="3667125"/>
            <a:ext cx="1857375" cy="723900"/>
          </a:xfrm>
          <a:prstGeom prst="roundRect">
            <a:avLst/>
          </a:prstGeom>
          <a:solidFill>
            <a:srgbClr val="F8FBFF"/>
          </a:solidFill>
          <a:ln w="12700">
            <a:solidFill>
              <a:srgbClr val="D7E3F0"/>
            </a:solidFill>
            <a:prstDash val="solid"/>
          </a:ln>
        </p:spPr>
      </p:sp>
      <p:sp>
        <p:nvSpPr>
          <p:cNvPr id="21" name="Text 19"/>
          <p:cNvSpPr/>
          <p:nvPr/>
        </p:nvSpPr>
        <p:spPr>
          <a:xfrm>
            <a:off x="3752850" y="3895725"/>
            <a:ext cx="1590675" cy="228600"/>
          </a:xfrm>
          <a:prstGeom prst="rect">
            <a:avLst/>
          </a:prstGeom>
          <a:noFill/>
          <a:ln/>
        </p:spPr>
        <p:txBody>
          <a:bodyPr wrap="square" lIns="0" tIns="0" rIns="0" bIns="0" rtlCol="0" anchor="t">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Workflow Engine</a:t>
            </a:r>
            <a:endParaRPr lang="en-US" sz="1450" dirty="0"/>
          </a:p>
        </p:txBody>
      </p:sp>
      <p:sp>
        <p:nvSpPr>
          <p:cNvPr id="22" name="Shape 20"/>
          <p:cNvSpPr/>
          <p:nvPr/>
        </p:nvSpPr>
        <p:spPr>
          <a:xfrm>
            <a:off x="6000750" y="3667125"/>
            <a:ext cx="1857375" cy="723900"/>
          </a:xfrm>
          <a:prstGeom prst="roundRect">
            <a:avLst/>
          </a:prstGeom>
          <a:solidFill>
            <a:srgbClr val="F8FBFF"/>
          </a:solidFill>
          <a:ln w="12700">
            <a:solidFill>
              <a:srgbClr val="D7E3F0"/>
            </a:solidFill>
            <a:prstDash val="solid"/>
          </a:ln>
        </p:spPr>
      </p:sp>
      <p:sp>
        <p:nvSpPr>
          <p:cNvPr id="23" name="Text 21"/>
          <p:cNvSpPr/>
          <p:nvPr/>
        </p:nvSpPr>
        <p:spPr>
          <a:xfrm>
            <a:off x="6134100" y="3895725"/>
            <a:ext cx="1590675" cy="228600"/>
          </a:xfrm>
          <a:prstGeom prst="rect">
            <a:avLst/>
          </a:prstGeom>
          <a:noFill/>
          <a:ln/>
        </p:spPr>
        <p:txBody>
          <a:bodyPr wrap="square" lIns="0" tIns="0" rIns="0" bIns="0" rtlCol="0" anchor="t">
            <a:normAutofit/>
          </a:bodyPr>
          <a:lstStyle/>
          <a:p>
            <a:pPr algn="ctr" indent="0" marL="0">
              <a:buNone/>
            </a:pPr>
            <a:r>
              <a:rPr lang="en-US" sz="1450" b="1" dirty="0">
                <a:solidFill>
                  <a:srgbClr val="0F172A"/>
                </a:solidFill>
                <a:latin typeface="Aptos" pitchFamily="34" charset="0"/>
                <a:ea typeface="Aptos" pitchFamily="34" charset="-122"/>
                <a:cs typeface="Aptos" pitchFamily="34" charset="-120"/>
              </a:rPr>
              <a:t>Dashboard / Report</a:t>
            </a:r>
            <a:endParaRPr lang="en-US" sz="1450" dirty="0"/>
          </a:p>
        </p:txBody>
      </p:sp>
      <p:sp>
        <p:nvSpPr>
          <p:cNvPr id="24" name="Text 22"/>
          <p:cNvSpPr/>
          <p:nvPr/>
        </p:nvSpPr>
        <p:spPr>
          <a:xfrm>
            <a:off x="9163050" y="3028950"/>
            <a:ext cx="285750" cy="32385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25" name="Shape 23"/>
          <p:cNvSpPr/>
          <p:nvPr/>
        </p:nvSpPr>
        <p:spPr>
          <a:xfrm>
            <a:off x="2000250" y="5334000"/>
            <a:ext cx="8191500" cy="533400"/>
          </a:xfrm>
          <a:prstGeom prst="roundRect">
            <a:avLst/>
          </a:prstGeom>
          <a:solidFill>
            <a:srgbClr val="EAF7FF"/>
          </a:solidFill>
          <a:ln w="12700">
            <a:solidFill>
              <a:srgbClr val="BAE6FD"/>
            </a:solidFill>
            <a:prstDash val="solid"/>
          </a:ln>
        </p:spPr>
      </p:sp>
      <p:sp>
        <p:nvSpPr>
          <p:cNvPr id="26" name="Text 24"/>
          <p:cNvSpPr/>
          <p:nvPr/>
        </p:nvSpPr>
        <p:spPr>
          <a:xfrm>
            <a:off x="2381250" y="5486400"/>
            <a:ext cx="7429500" cy="285750"/>
          </a:xfrm>
          <a:prstGeom prst="rect">
            <a:avLst/>
          </a:prstGeom>
          <a:noFill/>
          <a:ln/>
        </p:spPr>
        <p:txBody>
          <a:bodyPr wrap="square" lIns="0" tIns="0" rIns="0" bIns="0" rtlCol="0" anchor="t">
            <a:normAutofit/>
          </a:bodyPr>
          <a:lstStyle/>
          <a:p>
            <a:pPr algn="ctr" indent="0" marL="0">
              <a:buNone/>
            </a:pPr>
            <a:r>
              <a:rPr lang="en-US" sz="1700" b="1" dirty="0">
                <a:solidFill>
                  <a:srgbClr val="0F172A"/>
                </a:solidFill>
                <a:latin typeface="Aptos" pitchFamily="34" charset="0"/>
                <a:ea typeface="Aptos" pitchFamily="34" charset="-122"/>
                <a:cs typeface="Aptos" pitchFamily="34" charset="-120"/>
              </a:rPr>
              <a:t>Daflow mevcutta veri yükleme, analiz, grafik, dashboard ve raporlama akışlarını sağlar. SecureShare bu akışın güvenlik katmanını oluşturur.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05</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Geliştirilen Özellik: SecureShare</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Platform seviyesinde çalışan güvenlik katmanı.</a:t>
            </a:r>
            <a:endParaRPr lang="en-US" sz="1550" dirty="0"/>
          </a:p>
        </p:txBody>
      </p:sp>
      <p:sp>
        <p:nvSpPr>
          <p:cNvPr id="7" name="Shape 5"/>
          <p:cNvSpPr/>
          <p:nvPr/>
        </p:nvSpPr>
        <p:spPr>
          <a:xfrm>
            <a:off x="809625" y="2095500"/>
            <a:ext cx="3190875" cy="1381125"/>
          </a:xfrm>
          <a:prstGeom prst="roundRect">
            <a:avLst/>
          </a:prstGeom>
          <a:solidFill>
            <a:srgbClr val="F8FBFF"/>
          </a:solidFill>
          <a:ln w="12700">
            <a:solidFill>
              <a:srgbClr val="D7E3F0"/>
            </a:solidFill>
            <a:prstDash val="solid"/>
          </a:ln>
        </p:spPr>
      </p:sp>
      <p:sp>
        <p:nvSpPr>
          <p:cNvPr id="8" name="Shape 6"/>
          <p:cNvSpPr/>
          <p:nvPr/>
        </p:nvSpPr>
        <p:spPr>
          <a:xfrm>
            <a:off x="809625" y="2095500"/>
            <a:ext cx="66675" cy="1381125"/>
          </a:xfrm>
          <a:prstGeom prst="rect">
            <a:avLst/>
          </a:prstGeom>
          <a:solidFill>
            <a:srgbClr val="38BDF8"/>
          </a:solidFill>
          <a:ln w="12700">
            <a:solidFill>
              <a:srgbClr val="38BDF8">
                <a:alpha val="0"/>
              </a:srgbClr>
            </a:solidFill>
            <a:prstDash val="solid"/>
          </a:ln>
        </p:spPr>
      </p:sp>
      <p:sp>
        <p:nvSpPr>
          <p:cNvPr id="9" name="Text 7"/>
          <p:cNvSpPr/>
          <p:nvPr/>
        </p:nvSpPr>
        <p:spPr>
          <a:xfrm>
            <a:off x="1028700" y="2305050"/>
            <a:ext cx="2790825"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Dataset security status</a:t>
            </a:r>
            <a:endParaRPr lang="en-US" sz="1700" dirty="0"/>
          </a:p>
        </p:txBody>
      </p:sp>
      <p:sp>
        <p:nvSpPr>
          <p:cNvPr id="10" name="Text 8"/>
          <p:cNvSpPr/>
          <p:nvPr/>
        </p:nvSpPr>
        <p:spPr>
          <a:xfrm>
            <a:off x="1028700" y="2647950"/>
            <a:ext cx="2790825"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Encrypted, algorithm, owner ve created date bilgisi görünür.</a:t>
            </a:r>
            <a:endParaRPr lang="en-US" sz="1350" dirty="0"/>
          </a:p>
        </p:txBody>
      </p:sp>
      <p:sp>
        <p:nvSpPr>
          <p:cNvPr id="11" name="Shape 9"/>
          <p:cNvSpPr/>
          <p:nvPr/>
        </p:nvSpPr>
        <p:spPr>
          <a:xfrm>
            <a:off x="4495800" y="2095500"/>
            <a:ext cx="3190875" cy="1381125"/>
          </a:xfrm>
          <a:prstGeom prst="roundRect">
            <a:avLst/>
          </a:prstGeom>
          <a:solidFill>
            <a:srgbClr val="F8FBFF"/>
          </a:solidFill>
          <a:ln w="12700">
            <a:solidFill>
              <a:srgbClr val="D7E3F0"/>
            </a:solidFill>
            <a:prstDash val="solid"/>
          </a:ln>
        </p:spPr>
      </p:sp>
      <p:sp>
        <p:nvSpPr>
          <p:cNvPr id="12" name="Shape 10"/>
          <p:cNvSpPr/>
          <p:nvPr/>
        </p:nvSpPr>
        <p:spPr>
          <a:xfrm>
            <a:off x="4495800" y="2095500"/>
            <a:ext cx="66675" cy="1381125"/>
          </a:xfrm>
          <a:prstGeom prst="rect">
            <a:avLst/>
          </a:prstGeom>
          <a:solidFill>
            <a:srgbClr val="22C55E"/>
          </a:solidFill>
          <a:ln w="12700">
            <a:solidFill>
              <a:srgbClr val="22C55E">
                <a:alpha val="0"/>
              </a:srgbClr>
            </a:solidFill>
            <a:prstDash val="solid"/>
          </a:ln>
        </p:spPr>
      </p:sp>
      <p:sp>
        <p:nvSpPr>
          <p:cNvPr id="13" name="Text 11"/>
          <p:cNvSpPr/>
          <p:nvPr/>
        </p:nvSpPr>
        <p:spPr>
          <a:xfrm>
            <a:off x="4714875" y="2305050"/>
            <a:ext cx="2790825"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Secure Share Panel</a:t>
            </a:r>
            <a:endParaRPr lang="en-US" sz="1700" dirty="0"/>
          </a:p>
        </p:txBody>
      </p:sp>
      <p:sp>
        <p:nvSpPr>
          <p:cNvPr id="14" name="Text 12"/>
          <p:cNvSpPr/>
          <p:nvPr/>
        </p:nvSpPr>
        <p:spPr>
          <a:xfrm>
            <a:off x="4714875" y="2647950"/>
            <a:ext cx="2790825"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Email, permission ve expiration seçilerek paylaşım yapılır.</a:t>
            </a:r>
            <a:endParaRPr lang="en-US" sz="1350" dirty="0"/>
          </a:p>
        </p:txBody>
      </p:sp>
      <p:sp>
        <p:nvSpPr>
          <p:cNvPr id="15" name="Shape 13"/>
          <p:cNvSpPr/>
          <p:nvPr/>
        </p:nvSpPr>
        <p:spPr>
          <a:xfrm>
            <a:off x="8181975" y="2095500"/>
            <a:ext cx="3190875" cy="1381125"/>
          </a:xfrm>
          <a:prstGeom prst="roundRect">
            <a:avLst/>
          </a:prstGeom>
          <a:solidFill>
            <a:srgbClr val="F8FBFF"/>
          </a:solidFill>
          <a:ln w="12700">
            <a:solidFill>
              <a:srgbClr val="D7E3F0"/>
            </a:solidFill>
            <a:prstDash val="solid"/>
          </a:ln>
        </p:spPr>
      </p:sp>
      <p:sp>
        <p:nvSpPr>
          <p:cNvPr id="16" name="Shape 14"/>
          <p:cNvSpPr/>
          <p:nvPr/>
        </p:nvSpPr>
        <p:spPr>
          <a:xfrm>
            <a:off x="8181975" y="2095500"/>
            <a:ext cx="66675" cy="1381125"/>
          </a:xfrm>
          <a:prstGeom prst="rect">
            <a:avLst/>
          </a:prstGeom>
          <a:solidFill>
            <a:srgbClr val="F59E0B"/>
          </a:solidFill>
          <a:ln w="12700">
            <a:solidFill>
              <a:srgbClr val="F59E0B">
                <a:alpha val="0"/>
              </a:srgbClr>
            </a:solidFill>
            <a:prstDash val="solid"/>
          </a:ln>
        </p:spPr>
      </p:sp>
      <p:sp>
        <p:nvSpPr>
          <p:cNvPr id="17" name="Text 15"/>
          <p:cNvSpPr/>
          <p:nvPr/>
        </p:nvSpPr>
        <p:spPr>
          <a:xfrm>
            <a:off x="8401050" y="2305050"/>
            <a:ext cx="2790825"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Shared With Me</a:t>
            </a:r>
            <a:endParaRPr lang="en-US" sz="1700" dirty="0"/>
          </a:p>
        </p:txBody>
      </p:sp>
      <p:sp>
        <p:nvSpPr>
          <p:cNvPr id="18" name="Text 16"/>
          <p:cNvSpPr/>
          <p:nvPr/>
        </p:nvSpPr>
        <p:spPr>
          <a:xfrm>
            <a:off x="8401050" y="2647950"/>
            <a:ext cx="2790825"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Kullanıcı kendisiyle paylaşılan datasetleri ayrı sayfada görür.</a:t>
            </a:r>
            <a:endParaRPr lang="en-US" sz="1350" dirty="0"/>
          </a:p>
        </p:txBody>
      </p:sp>
      <p:sp>
        <p:nvSpPr>
          <p:cNvPr id="19" name="Shape 17"/>
          <p:cNvSpPr/>
          <p:nvPr/>
        </p:nvSpPr>
        <p:spPr>
          <a:xfrm>
            <a:off x="2619375" y="4048125"/>
            <a:ext cx="3190875" cy="1381125"/>
          </a:xfrm>
          <a:prstGeom prst="roundRect">
            <a:avLst/>
          </a:prstGeom>
          <a:solidFill>
            <a:srgbClr val="F8FBFF"/>
          </a:solidFill>
          <a:ln w="12700">
            <a:solidFill>
              <a:srgbClr val="D7E3F0"/>
            </a:solidFill>
            <a:prstDash val="solid"/>
          </a:ln>
        </p:spPr>
      </p:sp>
      <p:sp>
        <p:nvSpPr>
          <p:cNvPr id="20" name="Shape 18"/>
          <p:cNvSpPr/>
          <p:nvPr/>
        </p:nvSpPr>
        <p:spPr>
          <a:xfrm>
            <a:off x="2619375" y="4048125"/>
            <a:ext cx="66675" cy="1381125"/>
          </a:xfrm>
          <a:prstGeom prst="rect">
            <a:avLst/>
          </a:prstGeom>
          <a:solidFill>
            <a:srgbClr val="EF4444"/>
          </a:solidFill>
          <a:ln w="12700">
            <a:solidFill>
              <a:srgbClr val="EF4444">
                <a:alpha val="0"/>
              </a:srgbClr>
            </a:solidFill>
            <a:prstDash val="solid"/>
          </a:ln>
        </p:spPr>
      </p:sp>
      <p:sp>
        <p:nvSpPr>
          <p:cNvPr id="21" name="Text 19"/>
          <p:cNvSpPr/>
          <p:nvPr/>
        </p:nvSpPr>
        <p:spPr>
          <a:xfrm>
            <a:off x="2838450" y="4257675"/>
            <a:ext cx="2790825"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Access logs</a:t>
            </a:r>
            <a:endParaRPr lang="en-US" sz="1700" dirty="0"/>
          </a:p>
        </p:txBody>
      </p:sp>
      <p:sp>
        <p:nvSpPr>
          <p:cNvPr id="22" name="Text 20"/>
          <p:cNvSpPr/>
          <p:nvPr/>
        </p:nvSpPr>
        <p:spPr>
          <a:xfrm>
            <a:off x="2838450" y="4600575"/>
            <a:ext cx="2790825"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View, analyze, export, share ve denied_access kayıt altına alınır.</a:t>
            </a:r>
            <a:endParaRPr lang="en-US" sz="1350" dirty="0"/>
          </a:p>
        </p:txBody>
      </p:sp>
      <p:sp>
        <p:nvSpPr>
          <p:cNvPr id="23" name="Shape 21"/>
          <p:cNvSpPr/>
          <p:nvPr/>
        </p:nvSpPr>
        <p:spPr>
          <a:xfrm>
            <a:off x="6381750" y="4048125"/>
            <a:ext cx="3190875" cy="1381125"/>
          </a:xfrm>
          <a:prstGeom prst="roundRect">
            <a:avLst/>
          </a:prstGeom>
          <a:solidFill>
            <a:srgbClr val="F8FBFF"/>
          </a:solidFill>
          <a:ln w="12700">
            <a:solidFill>
              <a:srgbClr val="D7E3F0"/>
            </a:solidFill>
            <a:prstDash val="solid"/>
          </a:ln>
        </p:spPr>
      </p:sp>
      <p:sp>
        <p:nvSpPr>
          <p:cNvPr id="24" name="Shape 22"/>
          <p:cNvSpPr/>
          <p:nvPr/>
        </p:nvSpPr>
        <p:spPr>
          <a:xfrm>
            <a:off x="6381750" y="4048125"/>
            <a:ext cx="66675" cy="1381125"/>
          </a:xfrm>
          <a:prstGeom prst="rect">
            <a:avLst/>
          </a:prstGeom>
          <a:solidFill>
            <a:srgbClr val="0EA5E9"/>
          </a:solidFill>
          <a:ln w="12700">
            <a:solidFill>
              <a:srgbClr val="0EA5E9">
                <a:alpha val="0"/>
              </a:srgbClr>
            </a:solidFill>
            <a:prstDash val="solid"/>
          </a:ln>
        </p:spPr>
      </p:sp>
      <p:sp>
        <p:nvSpPr>
          <p:cNvPr id="25" name="Text 23"/>
          <p:cNvSpPr/>
          <p:nvPr/>
        </p:nvSpPr>
        <p:spPr>
          <a:xfrm>
            <a:off x="6600825" y="4257675"/>
            <a:ext cx="2790825"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Workflow / export kontrolü</a:t>
            </a:r>
            <a:endParaRPr lang="en-US" sz="1700" dirty="0"/>
          </a:p>
        </p:txBody>
      </p:sp>
      <p:sp>
        <p:nvSpPr>
          <p:cNvPr id="26" name="Text 24"/>
          <p:cNvSpPr/>
          <p:nvPr/>
        </p:nvSpPr>
        <p:spPr>
          <a:xfrm>
            <a:off x="6600825" y="4600575"/>
            <a:ext cx="2790825"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Backend işlem başlamadan önce gerekli izni doğrular.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06</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Neden Node Değil Platform Katmanı?</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Güvenlik opsiyonel bir workflow adımı olmamalıdır.</a:t>
            </a:r>
            <a:endParaRPr lang="en-US" sz="1550" dirty="0"/>
          </a:p>
        </p:txBody>
      </p:sp>
      <p:sp>
        <p:nvSpPr>
          <p:cNvPr id="7" name="Shape 5"/>
          <p:cNvSpPr/>
          <p:nvPr/>
        </p:nvSpPr>
        <p:spPr>
          <a:xfrm>
            <a:off x="857250" y="2000250"/>
            <a:ext cx="4762500" cy="2952750"/>
          </a:xfrm>
          <a:prstGeom prst="roundRect">
            <a:avLst/>
          </a:prstGeom>
          <a:solidFill>
            <a:srgbClr val="FFF7ED"/>
          </a:solidFill>
          <a:ln w="12700">
            <a:solidFill>
              <a:srgbClr val="FED7AA"/>
            </a:solidFill>
            <a:prstDash val="solid"/>
          </a:ln>
        </p:spPr>
      </p:sp>
      <p:sp>
        <p:nvSpPr>
          <p:cNvPr id="8" name="Text 6"/>
          <p:cNvSpPr/>
          <p:nvPr/>
        </p:nvSpPr>
        <p:spPr>
          <a:xfrm>
            <a:off x="1143000" y="2286000"/>
            <a:ext cx="2476500" cy="266700"/>
          </a:xfrm>
          <a:prstGeom prst="rect">
            <a:avLst/>
          </a:prstGeom>
          <a:noFill/>
          <a:ln/>
        </p:spPr>
        <p:txBody>
          <a:bodyPr wrap="square" lIns="0" tIns="0" rIns="0" bIns="0" rtlCol="0" anchor="t">
            <a:normAutofit/>
          </a:bodyPr>
          <a:lstStyle/>
          <a:p>
            <a:pPr algn="l" indent="0" marL="0">
              <a:buNone/>
            </a:pPr>
            <a:r>
              <a:rPr lang="en-US" sz="2200" b="1" dirty="0">
                <a:solidFill>
                  <a:srgbClr val="9A3412"/>
                </a:solidFill>
                <a:latin typeface="Aptos" pitchFamily="34" charset="0"/>
                <a:ea typeface="Aptos" pitchFamily="34" charset="-122"/>
                <a:cs typeface="Aptos" pitchFamily="34" charset="-120"/>
              </a:rPr>
              <a:t>Node yaklaşımı</a:t>
            </a:r>
            <a:endParaRPr lang="en-US" sz="2200" dirty="0"/>
          </a:p>
        </p:txBody>
      </p:sp>
      <p:sp>
        <p:nvSpPr>
          <p:cNvPr id="9" name="Shape 7"/>
          <p:cNvSpPr/>
          <p:nvPr/>
        </p:nvSpPr>
        <p:spPr>
          <a:xfrm>
            <a:off x="1190625" y="2933700"/>
            <a:ext cx="104775" cy="104775"/>
          </a:xfrm>
          <a:prstGeom prst="ellipse">
            <a:avLst/>
          </a:prstGeom>
          <a:solidFill>
            <a:srgbClr val="F59E0B"/>
          </a:solidFill>
          <a:ln w="12700">
            <a:solidFill>
              <a:srgbClr val="F59E0B">
                <a:alpha val="0"/>
              </a:srgbClr>
            </a:solidFill>
            <a:prstDash val="solid"/>
          </a:ln>
        </p:spPr>
      </p:sp>
      <p:sp>
        <p:nvSpPr>
          <p:cNvPr id="10" name="Text 8"/>
          <p:cNvSpPr/>
          <p:nvPr/>
        </p:nvSpPr>
        <p:spPr>
          <a:xfrm>
            <a:off x="1428750" y="2857500"/>
            <a:ext cx="3476625" cy="361950"/>
          </a:xfrm>
          <a:prstGeom prst="rect">
            <a:avLst/>
          </a:prstGeom>
          <a:noFill/>
          <a:ln/>
        </p:spPr>
        <p:txBody>
          <a:bodyPr wrap="square" lIns="0" tIns="0" rIns="0" bIns="0" rtlCol="0" anchor="t">
            <a:normAutofit/>
          </a:bodyPr>
          <a:lstStyle/>
          <a:p>
            <a:pPr algn="l" indent="0" marL="0">
              <a:buNone/>
            </a:pPr>
            <a:r>
              <a:rPr lang="en-US" sz="1800" dirty="0">
                <a:solidFill>
                  <a:srgbClr val="243044"/>
                </a:solidFill>
                <a:latin typeface="Aptos" pitchFamily="34" charset="0"/>
                <a:ea typeface="Aptos" pitchFamily="34" charset="-122"/>
                <a:cs typeface="Aptos" pitchFamily="34" charset="-120"/>
              </a:rPr>
              <a:t>Kullanıcı eklemeyi unutabilir</a:t>
            </a:r>
            <a:endParaRPr lang="en-US" sz="1800" dirty="0"/>
          </a:p>
        </p:txBody>
      </p:sp>
      <p:sp>
        <p:nvSpPr>
          <p:cNvPr id="11" name="Shape 9"/>
          <p:cNvSpPr/>
          <p:nvPr/>
        </p:nvSpPr>
        <p:spPr>
          <a:xfrm>
            <a:off x="1190625" y="3486150"/>
            <a:ext cx="104775" cy="104775"/>
          </a:xfrm>
          <a:prstGeom prst="ellipse">
            <a:avLst/>
          </a:prstGeom>
          <a:solidFill>
            <a:srgbClr val="F59E0B"/>
          </a:solidFill>
          <a:ln w="12700">
            <a:solidFill>
              <a:srgbClr val="F59E0B">
                <a:alpha val="0"/>
              </a:srgbClr>
            </a:solidFill>
            <a:prstDash val="solid"/>
          </a:ln>
        </p:spPr>
      </p:sp>
      <p:sp>
        <p:nvSpPr>
          <p:cNvPr id="12" name="Text 10"/>
          <p:cNvSpPr/>
          <p:nvPr/>
        </p:nvSpPr>
        <p:spPr>
          <a:xfrm>
            <a:off x="1428750" y="3409950"/>
            <a:ext cx="3476625" cy="361950"/>
          </a:xfrm>
          <a:prstGeom prst="rect">
            <a:avLst/>
          </a:prstGeom>
          <a:noFill/>
          <a:ln/>
        </p:spPr>
        <p:txBody>
          <a:bodyPr wrap="square" lIns="0" tIns="0" rIns="0" bIns="0" rtlCol="0" anchor="t">
            <a:normAutofit/>
          </a:bodyPr>
          <a:lstStyle/>
          <a:p>
            <a:pPr algn="l" indent="0" marL="0">
              <a:buNone/>
            </a:pPr>
            <a:r>
              <a:rPr lang="en-US" sz="1800" dirty="0">
                <a:solidFill>
                  <a:srgbClr val="243044"/>
                </a:solidFill>
                <a:latin typeface="Aptos" pitchFamily="34" charset="0"/>
                <a:ea typeface="Aptos" pitchFamily="34" charset="-122"/>
                <a:cs typeface="Aptos" pitchFamily="34" charset="-120"/>
              </a:rPr>
              <a:t>Her workflow tekrar eder</a:t>
            </a:r>
            <a:endParaRPr lang="en-US" sz="1800" dirty="0"/>
          </a:p>
        </p:txBody>
      </p:sp>
      <p:sp>
        <p:nvSpPr>
          <p:cNvPr id="13" name="Shape 11"/>
          <p:cNvSpPr/>
          <p:nvPr/>
        </p:nvSpPr>
        <p:spPr>
          <a:xfrm>
            <a:off x="1190625" y="4038600"/>
            <a:ext cx="104775" cy="104775"/>
          </a:xfrm>
          <a:prstGeom prst="ellipse">
            <a:avLst/>
          </a:prstGeom>
          <a:solidFill>
            <a:srgbClr val="F59E0B"/>
          </a:solidFill>
          <a:ln w="12700">
            <a:solidFill>
              <a:srgbClr val="F59E0B">
                <a:alpha val="0"/>
              </a:srgbClr>
            </a:solidFill>
            <a:prstDash val="solid"/>
          </a:ln>
        </p:spPr>
      </p:sp>
      <p:sp>
        <p:nvSpPr>
          <p:cNvPr id="14" name="Text 12"/>
          <p:cNvSpPr/>
          <p:nvPr/>
        </p:nvSpPr>
        <p:spPr>
          <a:xfrm>
            <a:off x="1428750" y="3962400"/>
            <a:ext cx="3476625" cy="361950"/>
          </a:xfrm>
          <a:prstGeom prst="rect">
            <a:avLst/>
          </a:prstGeom>
          <a:noFill/>
          <a:ln/>
        </p:spPr>
        <p:txBody>
          <a:bodyPr wrap="square" lIns="0" tIns="0" rIns="0" bIns="0" rtlCol="0" anchor="t">
            <a:normAutofit/>
          </a:bodyPr>
          <a:lstStyle/>
          <a:p>
            <a:pPr algn="l" indent="0" marL="0">
              <a:buNone/>
            </a:pPr>
            <a:r>
              <a:rPr lang="en-US" sz="1800" dirty="0">
                <a:solidFill>
                  <a:srgbClr val="243044"/>
                </a:solidFill>
                <a:latin typeface="Aptos" pitchFamily="34" charset="0"/>
                <a:ea typeface="Aptos" pitchFamily="34" charset="-122"/>
                <a:cs typeface="Aptos" pitchFamily="34" charset="-120"/>
              </a:rPr>
              <a:t>Güvenlik manuel hale gelir</a:t>
            </a:r>
            <a:endParaRPr lang="en-US" sz="1800" dirty="0"/>
          </a:p>
        </p:txBody>
      </p:sp>
      <p:sp>
        <p:nvSpPr>
          <p:cNvPr id="15" name="Shape 13"/>
          <p:cNvSpPr/>
          <p:nvPr/>
        </p:nvSpPr>
        <p:spPr>
          <a:xfrm>
            <a:off x="6572250" y="2000250"/>
            <a:ext cx="4762500" cy="2952750"/>
          </a:xfrm>
          <a:prstGeom prst="roundRect">
            <a:avLst/>
          </a:prstGeom>
          <a:solidFill>
            <a:srgbClr val="ECFDF5"/>
          </a:solidFill>
          <a:ln w="12700">
            <a:solidFill>
              <a:srgbClr val="BBF7D0"/>
            </a:solidFill>
            <a:prstDash val="solid"/>
          </a:ln>
        </p:spPr>
      </p:sp>
      <p:sp>
        <p:nvSpPr>
          <p:cNvPr id="16" name="Text 14"/>
          <p:cNvSpPr/>
          <p:nvPr/>
        </p:nvSpPr>
        <p:spPr>
          <a:xfrm>
            <a:off x="6858000" y="2286000"/>
            <a:ext cx="2857500" cy="266700"/>
          </a:xfrm>
          <a:prstGeom prst="rect">
            <a:avLst/>
          </a:prstGeom>
          <a:noFill/>
          <a:ln/>
        </p:spPr>
        <p:txBody>
          <a:bodyPr wrap="square" lIns="0" tIns="0" rIns="0" bIns="0" rtlCol="0" anchor="t">
            <a:normAutofit/>
          </a:bodyPr>
          <a:lstStyle/>
          <a:p>
            <a:pPr algn="l" indent="0" marL="0">
              <a:buNone/>
            </a:pPr>
            <a:r>
              <a:rPr lang="en-US" sz="2200" b="1" dirty="0">
                <a:solidFill>
                  <a:srgbClr val="166534"/>
                </a:solidFill>
                <a:latin typeface="Aptos" pitchFamily="34" charset="0"/>
                <a:ea typeface="Aptos" pitchFamily="34" charset="-122"/>
                <a:cs typeface="Aptos" pitchFamily="34" charset="-120"/>
              </a:rPr>
              <a:t>Platform yaklaşımı</a:t>
            </a:r>
            <a:endParaRPr lang="en-US" sz="2200" dirty="0"/>
          </a:p>
        </p:txBody>
      </p:sp>
      <p:sp>
        <p:nvSpPr>
          <p:cNvPr id="17" name="Shape 15"/>
          <p:cNvSpPr/>
          <p:nvPr/>
        </p:nvSpPr>
        <p:spPr>
          <a:xfrm>
            <a:off x="6905625" y="2933700"/>
            <a:ext cx="104775" cy="104775"/>
          </a:xfrm>
          <a:prstGeom prst="ellipse">
            <a:avLst/>
          </a:prstGeom>
          <a:solidFill>
            <a:srgbClr val="22C55E"/>
          </a:solidFill>
          <a:ln w="12700">
            <a:solidFill>
              <a:srgbClr val="22C55E">
                <a:alpha val="0"/>
              </a:srgbClr>
            </a:solidFill>
            <a:prstDash val="solid"/>
          </a:ln>
        </p:spPr>
      </p:sp>
      <p:sp>
        <p:nvSpPr>
          <p:cNvPr id="18" name="Text 16"/>
          <p:cNvSpPr/>
          <p:nvPr/>
        </p:nvSpPr>
        <p:spPr>
          <a:xfrm>
            <a:off x="7143750" y="2857500"/>
            <a:ext cx="3476625" cy="361950"/>
          </a:xfrm>
          <a:prstGeom prst="rect">
            <a:avLst/>
          </a:prstGeom>
          <a:noFill/>
          <a:ln/>
        </p:spPr>
        <p:txBody>
          <a:bodyPr wrap="square" lIns="0" tIns="0" rIns="0" bIns="0" rtlCol="0" anchor="t">
            <a:normAutofit/>
          </a:bodyPr>
          <a:lstStyle/>
          <a:p>
            <a:pPr algn="l" indent="0" marL="0">
              <a:buNone/>
            </a:pPr>
            <a:r>
              <a:rPr lang="en-US" sz="1800" dirty="0">
                <a:solidFill>
                  <a:srgbClr val="243044"/>
                </a:solidFill>
                <a:latin typeface="Aptos" pitchFamily="34" charset="0"/>
                <a:ea typeface="Aptos" pitchFamily="34" charset="-122"/>
                <a:cs typeface="Aptos" pitchFamily="34" charset="-120"/>
              </a:rPr>
              <a:t>Otomatik ve varsayılan çalışır</a:t>
            </a:r>
            <a:endParaRPr lang="en-US" sz="1800" dirty="0"/>
          </a:p>
        </p:txBody>
      </p:sp>
      <p:sp>
        <p:nvSpPr>
          <p:cNvPr id="19" name="Shape 17"/>
          <p:cNvSpPr/>
          <p:nvPr/>
        </p:nvSpPr>
        <p:spPr>
          <a:xfrm>
            <a:off x="6905625" y="3486150"/>
            <a:ext cx="104775" cy="104775"/>
          </a:xfrm>
          <a:prstGeom prst="ellipse">
            <a:avLst/>
          </a:prstGeom>
          <a:solidFill>
            <a:srgbClr val="22C55E"/>
          </a:solidFill>
          <a:ln w="12700">
            <a:solidFill>
              <a:srgbClr val="22C55E">
                <a:alpha val="0"/>
              </a:srgbClr>
            </a:solidFill>
            <a:prstDash val="solid"/>
          </a:ln>
        </p:spPr>
      </p:sp>
      <p:sp>
        <p:nvSpPr>
          <p:cNvPr id="20" name="Text 18"/>
          <p:cNvSpPr/>
          <p:nvPr/>
        </p:nvSpPr>
        <p:spPr>
          <a:xfrm>
            <a:off x="7143750" y="3409950"/>
            <a:ext cx="3476625" cy="361950"/>
          </a:xfrm>
          <a:prstGeom prst="rect">
            <a:avLst/>
          </a:prstGeom>
          <a:noFill/>
          <a:ln/>
        </p:spPr>
        <p:txBody>
          <a:bodyPr wrap="square" lIns="0" tIns="0" rIns="0" bIns="0" rtlCol="0" anchor="t">
            <a:normAutofit/>
          </a:bodyPr>
          <a:lstStyle/>
          <a:p>
            <a:pPr algn="l" indent="0" marL="0">
              <a:buNone/>
            </a:pPr>
            <a:r>
              <a:rPr lang="en-US" sz="1800" dirty="0">
                <a:solidFill>
                  <a:srgbClr val="243044"/>
                </a:solidFill>
                <a:latin typeface="Aptos" pitchFamily="34" charset="0"/>
                <a:ea typeface="Aptos" pitchFamily="34" charset="-122"/>
                <a:cs typeface="Aptos" pitchFamily="34" charset="-120"/>
              </a:rPr>
              <a:t>Her workflow için geçerlidir</a:t>
            </a:r>
            <a:endParaRPr lang="en-US" sz="1800" dirty="0"/>
          </a:p>
        </p:txBody>
      </p:sp>
      <p:sp>
        <p:nvSpPr>
          <p:cNvPr id="21" name="Shape 19"/>
          <p:cNvSpPr/>
          <p:nvPr/>
        </p:nvSpPr>
        <p:spPr>
          <a:xfrm>
            <a:off x="6905625" y="4038600"/>
            <a:ext cx="104775" cy="104775"/>
          </a:xfrm>
          <a:prstGeom prst="ellipse">
            <a:avLst/>
          </a:prstGeom>
          <a:solidFill>
            <a:srgbClr val="22C55E"/>
          </a:solidFill>
          <a:ln w="12700">
            <a:solidFill>
              <a:srgbClr val="22C55E">
                <a:alpha val="0"/>
              </a:srgbClr>
            </a:solidFill>
            <a:prstDash val="solid"/>
          </a:ln>
        </p:spPr>
      </p:sp>
      <p:sp>
        <p:nvSpPr>
          <p:cNvPr id="22" name="Text 20"/>
          <p:cNvSpPr/>
          <p:nvPr/>
        </p:nvSpPr>
        <p:spPr>
          <a:xfrm>
            <a:off x="7143750" y="3962400"/>
            <a:ext cx="3476625" cy="361950"/>
          </a:xfrm>
          <a:prstGeom prst="rect">
            <a:avLst/>
          </a:prstGeom>
          <a:noFill/>
          <a:ln/>
        </p:spPr>
        <p:txBody>
          <a:bodyPr wrap="square" lIns="0" tIns="0" rIns="0" bIns="0" rtlCol="0" anchor="t">
            <a:normAutofit/>
          </a:bodyPr>
          <a:lstStyle/>
          <a:p>
            <a:pPr algn="l" indent="0" marL="0">
              <a:buNone/>
            </a:pPr>
            <a:r>
              <a:rPr lang="en-US" sz="1800" dirty="0">
                <a:solidFill>
                  <a:srgbClr val="243044"/>
                </a:solidFill>
                <a:latin typeface="Aptos" pitchFamily="34" charset="0"/>
                <a:ea typeface="Aptos" pitchFamily="34" charset="-122"/>
                <a:cs typeface="Aptos" pitchFamily="34" charset="-120"/>
              </a:rPr>
              <a:t>Şifreleme ve loglama merkezi olur</a:t>
            </a:r>
            <a:endParaRPr lang="en-US" sz="1800" dirty="0"/>
          </a:p>
        </p:txBody>
      </p:sp>
      <p:sp>
        <p:nvSpPr>
          <p:cNvPr id="23" name="Text 21"/>
          <p:cNvSpPr/>
          <p:nvPr/>
        </p:nvSpPr>
        <p:spPr>
          <a:xfrm>
            <a:off x="2095500" y="5572125"/>
            <a:ext cx="8001000" cy="323850"/>
          </a:xfrm>
          <a:prstGeom prst="rect">
            <a:avLst/>
          </a:prstGeom>
          <a:noFill/>
          <a:ln/>
        </p:spPr>
        <p:txBody>
          <a:bodyPr wrap="square" lIns="0" tIns="0" rIns="0" bIns="0" rtlCol="0" anchor="t">
            <a:normAutofit/>
          </a:bodyPr>
          <a:lstStyle/>
          <a:p>
            <a:pPr algn="ctr" indent="0" marL="0">
              <a:buNone/>
            </a:pPr>
            <a:r>
              <a:rPr lang="en-US" sz="2300" b="1" dirty="0">
                <a:solidFill>
                  <a:srgbClr val="0F172A"/>
                </a:solidFill>
                <a:latin typeface="Aptos" pitchFamily="34" charset="0"/>
                <a:ea typeface="Aptos" pitchFamily="34" charset="-122"/>
                <a:cs typeface="Aptos" pitchFamily="34" charset="-120"/>
              </a:rPr>
              <a:t>Karar: Güvenlik, analiz node’u değil sistem davranışıdır.</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07</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Kullanılan Bilgi Güvenliği Konuları</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Ders kavramları gerçek bir veri platformunda uygulandı.</a:t>
            </a:r>
            <a:endParaRPr lang="en-US" sz="1550" dirty="0"/>
          </a:p>
        </p:txBody>
      </p:sp>
      <p:sp>
        <p:nvSpPr>
          <p:cNvPr id="7" name="Shape 5"/>
          <p:cNvSpPr/>
          <p:nvPr/>
        </p:nvSpPr>
        <p:spPr>
          <a:xfrm>
            <a:off x="809625" y="2047875"/>
            <a:ext cx="2476500" cy="1381125"/>
          </a:xfrm>
          <a:prstGeom prst="roundRect">
            <a:avLst/>
          </a:prstGeom>
          <a:solidFill>
            <a:srgbClr val="F8FBFF"/>
          </a:solidFill>
          <a:ln w="12700">
            <a:solidFill>
              <a:srgbClr val="D7E3F0"/>
            </a:solidFill>
            <a:prstDash val="solid"/>
          </a:ln>
        </p:spPr>
      </p:sp>
      <p:sp>
        <p:nvSpPr>
          <p:cNvPr id="8" name="Shape 6"/>
          <p:cNvSpPr/>
          <p:nvPr/>
        </p:nvSpPr>
        <p:spPr>
          <a:xfrm>
            <a:off x="809625" y="2047875"/>
            <a:ext cx="66675" cy="1381125"/>
          </a:xfrm>
          <a:prstGeom prst="rect">
            <a:avLst/>
          </a:prstGeom>
          <a:solidFill>
            <a:srgbClr val="38BDF8"/>
          </a:solidFill>
          <a:ln w="12700">
            <a:solidFill>
              <a:srgbClr val="38BDF8">
                <a:alpha val="0"/>
              </a:srgbClr>
            </a:solidFill>
            <a:prstDash val="solid"/>
          </a:ln>
        </p:spPr>
      </p:sp>
      <p:sp>
        <p:nvSpPr>
          <p:cNvPr id="9" name="Text 7"/>
          <p:cNvSpPr/>
          <p:nvPr/>
        </p:nvSpPr>
        <p:spPr>
          <a:xfrm>
            <a:off x="1028700" y="2257425"/>
            <a:ext cx="207645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Veri güvenliği</a:t>
            </a:r>
            <a:endParaRPr lang="en-US" sz="1700" dirty="0"/>
          </a:p>
        </p:txBody>
      </p:sp>
      <p:sp>
        <p:nvSpPr>
          <p:cNvPr id="10" name="Text 8"/>
          <p:cNvSpPr/>
          <p:nvPr/>
        </p:nvSpPr>
        <p:spPr>
          <a:xfrm>
            <a:off x="1028700" y="2600325"/>
            <a:ext cx="2076450"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Dataset içeriği güvenli saklanır.</a:t>
            </a:r>
            <a:endParaRPr lang="en-US" sz="1350" dirty="0"/>
          </a:p>
        </p:txBody>
      </p:sp>
      <p:sp>
        <p:nvSpPr>
          <p:cNvPr id="11" name="Shape 9"/>
          <p:cNvSpPr/>
          <p:nvPr/>
        </p:nvSpPr>
        <p:spPr>
          <a:xfrm>
            <a:off x="3571875" y="2047875"/>
            <a:ext cx="2476500" cy="1381125"/>
          </a:xfrm>
          <a:prstGeom prst="roundRect">
            <a:avLst/>
          </a:prstGeom>
          <a:solidFill>
            <a:srgbClr val="F8FBFF"/>
          </a:solidFill>
          <a:ln w="12700">
            <a:solidFill>
              <a:srgbClr val="D7E3F0"/>
            </a:solidFill>
            <a:prstDash val="solid"/>
          </a:ln>
        </p:spPr>
      </p:sp>
      <p:sp>
        <p:nvSpPr>
          <p:cNvPr id="12" name="Shape 10"/>
          <p:cNvSpPr/>
          <p:nvPr/>
        </p:nvSpPr>
        <p:spPr>
          <a:xfrm>
            <a:off x="3571875" y="2047875"/>
            <a:ext cx="66675" cy="1381125"/>
          </a:xfrm>
          <a:prstGeom prst="rect">
            <a:avLst/>
          </a:prstGeom>
          <a:solidFill>
            <a:srgbClr val="22C55E"/>
          </a:solidFill>
          <a:ln w="12700">
            <a:solidFill>
              <a:srgbClr val="22C55E">
                <a:alpha val="0"/>
              </a:srgbClr>
            </a:solidFill>
            <a:prstDash val="solid"/>
          </a:ln>
        </p:spPr>
      </p:sp>
      <p:sp>
        <p:nvSpPr>
          <p:cNvPr id="13" name="Text 11"/>
          <p:cNvSpPr/>
          <p:nvPr/>
        </p:nvSpPr>
        <p:spPr>
          <a:xfrm>
            <a:off x="3790950" y="2257425"/>
            <a:ext cx="207645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Yetkilendirme</a:t>
            </a:r>
            <a:endParaRPr lang="en-US" sz="1700" dirty="0"/>
          </a:p>
        </p:txBody>
      </p:sp>
      <p:sp>
        <p:nvSpPr>
          <p:cNvPr id="14" name="Text 12"/>
          <p:cNvSpPr/>
          <p:nvPr/>
        </p:nvSpPr>
        <p:spPr>
          <a:xfrm>
            <a:off x="3790950" y="2600325"/>
            <a:ext cx="2076450"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Kullanıcı kimliği ve izin tipi kontrol edilir.</a:t>
            </a:r>
            <a:endParaRPr lang="en-US" sz="1350" dirty="0"/>
          </a:p>
        </p:txBody>
      </p:sp>
      <p:sp>
        <p:nvSpPr>
          <p:cNvPr id="15" name="Shape 13"/>
          <p:cNvSpPr/>
          <p:nvPr/>
        </p:nvSpPr>
        <p:spPr>
          <a:xfrm>
            <a:off x="6334125" y="2047875"/>
            <a:ext cx="2476500" cy="1381125"/>
          </a:xfrm>
          <a:prstGeom prst="roundRect">
            <a:avLst/>
          </a:prstGeom>
          <a:solidFill>
            <a:srgbClr val="F8FBFF"/>
          </a:solidFill>
          <a:ln w="12700">
            <a:solidFill>
              <a:srgbClr val="D7E3F0"/>
            </a:solidFill>
            <a:prstDash val="solid"/>
          </a:ln>
        </p:spPr>
      </p:sp>
      <p:sp>
        <p:nvSpPr>
          <p:cNvPr id="16" name="Shape 14"/>
          <p:cNvSpPr/>
          <p:nvPr/>
        </p:nvSpPr>
        <p:spPr>
          <a:xfrm>
            <a:off x="6334125" y="2047875"/>
            <a:ext cx="66675" cy="1381125"/>
          </a:xfrm>
          <a:prstGeom prst="rect">
            <a:avLst/>
          </a:prstGeom>
          <a:solidFill>
            <a:srgbClr val="F59E0B"/>
          </a:solidFill>
          <a:ln w="12700">
            <a:solidFill>
              <a:srgbClr val="F59E0B">
                <a:alpha val="0"/>
              </a:srgbClr>
            </a:solidFill>
            <a:prstDash val="solid"/>
          </a:ln>
        </p:spPr>
      </p:sp>
      <p:sp>
        <p:nvSpPr>
          <p:cNvPr id="17" name="Text 15"/>
          <p:cNvSpPr/>
          <p:nvPr/>
        </p:nvSpPr>
        <p:spPr>
          <a:xfrm>
            <a:off x="6553200" y="2257425"/>
            <a:ext cx="207645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Erişim kontrolü</a:t>
            </a:r>
            <a:endParaRPr lang="en-US" sz="1700" dirty="0"/>
          </a:p>
        </p:txBody>
      </p:sp>
      <p:sp>
        <p:nvSpPr>
          <p:cNvPr id="18" name="Text 16"/>
          <p:cNvSpPr/>
          <p:nvPr/>
        </p:nvSpPr>
        <p:spPr>
          <a:xfrm>
            <a:off x="6553200" y="2600325"/>
            <a:ext cx="2076450"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View, analyze ve export ayrı kontrol edilir.</a:t>
            </a:r>
            <a:endParaRPr lang="en-US" sz="1350" dirty="0"/>
          </a:p>
        </p:txBody>
      </p:sp>
      <p:sp>
        <p:nvSpPr>
          <p:cNvPr id="19" name="Shape 17"/>
          <p:cNvSpPr/>
          <p:nvPr/>
        </p:nvSpPr>
        <p:spPr>
          <a:xfrm>
            <a:off x="9096375" y="2047875"/>
            <a:ext cx="2286000" cy="1381125"/>
          </a:xfrm>
          <a:prstGeom prst="roundRect">
            <a:avLst/>
          </a:prstGeom>
          <a:solidFill>
            <a:srgbClr val="F8FBFF"/>
          </a:solidFill>
          <a:ln w="12700">
            <a:solidFill>
              <a:srgbClr val="D7E3F0"/>
            </a:solidFill>
            <a:prstDash val="solid"/>
          </a:ln>
        </p:spPr>
      </p:sp>
      <p:sp>
        <p:nvSpPr>
          <p:cNvPr id="20" name="Shape 18"/>
          <p:cNvSpPr/>
          <p:nvPr/>
        </p:nvSpPr>
        <p:spPr>
          <a:xfrm>
            <a:off x="9096375" y="2047875"/>
            <a:ext cx="66675" cy="1381125"/>
          </a:xfrm>
          <a:prstGeom prst="rect">
            <a:avLst/>
          </a:prstGeom>
          <a:solidFill>
            <a:srgbClr val="EF4444"/>
          </a:solidFill>
          <a:ln w="12700">
            <a:solidFill>
              <a:srgbClr val="EF4444">
                <a:alpha val="0"/>
              </a:srgbClr>
            </a:solidFill>
            <a:prstDash val="solid"/>
          </a:ln>
        </p:spPr>
      </p:sp>
      <p:sp>
        <p:nvSpPr>
          <p:cNvPr id="21" name="Text 19"/>
          <p:cNvSpPr/>
          <p:nvPr/>
        </p:nvSpPr>
        <p:spPr>
          <a:xfrm>
            <a:off x="9315450" y="2257425"/>
            <a:ext cx="188595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Least privilege</a:t>
            </a:r>
            <a:endParaRPr lang="en-US" sz="1700" dirty="0"/>
          </a:p>
        </p:txBody>
      </p:sp>
      <p:sp>
        <p:nvSpPr>
          <p:cNvPr id="22" name="Text 20"/>
          <p:cNvSpPr/>
          <p:nvPr/>
        </p:nvSpPr>
        <p:spPr>
          <a:xfrm>
            <a:off x="9315450" y="2600325"/>
            <a:ext cx="1885950" cy="714375"/>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Kullanıcı sadece gerekli yetkiye sahip olur.</a:t>
            </a:r>
            <a:endParaRPr lang="en-US" sz="1350" dirty="0"/>
          </a:p>
        </p:txBody>
      </p:sp>
      <p:sp>
        <p:nvSpPr>
          <p:cNvPr id="23" name="Text 21"/>
          <p:cNvSpPr/>
          <p:nvPr/>
        </p:nvSpPr>
        <p:spPr>
          <a:xfrm>
            <a:off x="1143000" y="4286250"/>
            <a:ext cx="9334500" cy="666750"/>
          </a:xfrm>
          <a:prstGeom prst="rect">
            <a:avLst/>
          </a:prstGeom>
          <a:noFill/>
          <a:ln/>
        </p:spPr>
        <p:txBody>
          <a:bodyPr wrap="square" lIns="0" tIns="0" rIns="0" bIns="0" rtlCol="0" anchor="t">
            <a:normAutofit/>
          </a:bodyPr>
          <a:lstStyle/>
          <a:p>
            <a:pPr algn="ctr" indent="0" marL="0">
              <a:buNone/>
            </a:pPr>
            <a:r>
              <a:rPr lang="en-US" sz="2200" b="1" dirty="0">
                <a:solidFill>
                  <a:srgbClr val="0F172A"/>
                </a:solidFill>
                <a:latin typeface="Aptos" pitchFamily="34" charset="0"/>
                <a:ea typeface="Aptos" pitchFamily="34" charset="-122"/>
                <a:cs typeface="Aptos" pitchFamily="34" charset="-120"/>
              </a:rPr>
              <a:t>Access log / audit trail, hesap verebilirliği artırır ve güvenlik olaylarında inceleme yapılmasını sağlar.</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08</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Şifreleme Kodları</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Dataset dosyası storage’a yazılmadan önce AES-256-GCM ile şifrelenir.</a:t>
            </a:r>
            <a:endParaRPr lang="en-US" sz="1550" dirty="0"/>
          </a:p>
        </p:txBody>
      </p:sp>
      <p:sp>
        <p:nvSpPr>
          <p:cNvPr id="7" name="Shape 5"/>
          <p:cNvSpPr/>
          <p:nvPr/>
        </p:nvSpPr>
        <p:spPr>
          <a:xfrm>
            <a:off x="685800" y="1905000"/>
            <a:ext cx="5286375" cy="3048000"/>
          </a:xfrm>
          <a:prstGeom prst="roundRect">
            <a:avLst/>
          </a:prstGeom>
          <a:solidFill>
            <a:srgbClr val="F8FAFC"/>
          </a:solidFill>
          <a:ln w="12700">
            <a:solidFill>
              <a:srgbClr val="D7E3F0"/>
            </a:solidFill>
            <a:prstDash val="solid"/>
          </a:ln>
        </p:spPr>
      </p:sp>
      <p:sp>
        <p:nvSpPr>
          <p:cNvPr id="8" name="Shape 6"/>
          <p:cNvSpPr/>
          <p:nvPr/>
        </p:nvSpPr>
        <p:spPr>
          <a:xfrm>
            <a:off x="685800" y="1905000"/>
            <a:ext cx="66675" cy="3048000"/>
          </a:xfrm>
          <a:prstGeom prst="rect">
            <a:avLst/>
          </a:prstGeom>
          <a:solidFill>
            <a:srgbClr val="38BDF8"/>
          </a:solidFill>
          <a:ln w="12700">
            <a:solidFill>
              <a:srgbClr val="38BDF8">
                <a:alpha val="0"/>
              </a:srgbClr>
            </a:solidFill>
            <a:prstDash val="solid"/>
          </a:ln>
        </p:spPr>
      </p:sp>
      <p:sp>
        <p:nvSpPr>
          <p:cNvPr id="9" name="Text 7"/>
          <p:cNvSpPr/>
          <p:nvPr/>
        </p:nvSpPr>
        <p:spPr>
          <a:xfrm>
            <a:off x="857250" y="2028825"/>
            <a:ext cx="4943475" cy="171450"/>
          </a:xfrm>
          <a:prstGeom prst="rect">
            <a:avLst/>
          </a:prstGeom>
          <a:noFill/>
          <a:ln/>
        </p:spPr>
        <p:txBody>
          <a:bodyPr wrap="square" lIns="0" tIns="0" rIns="0" bIns="0" rtlCol="0" anchor="t">
            <a:normAutofit/>
          </a:bodyPr>
          <a:lstStyle/>
          <a:p>
            <a:pPr algn="l" indent="0" marL="0">
              <a:buNone/>
            </a:pPr>
            <a:r>
              <a:rPr lang="en-US" sz="1150" b="1" dirty="0">
                <a:solidFill>
                  <a:srgbClr val="38BDF8"/>
                </a:solidFill>
                <a:latin typeface="Aptos" pitchFamily="34" charset="0"/>
                <a:ea typeface="Aptos" pitchFamily="34" charset="-122"/>
                <a:cs typeface="Aptos" pitchFamily="34" charset="-120"/>
              </a:rPr>
              <a:t>backend/app/services/secure_share.py</a:t>
            </a:r>
            <a:endParaRPr lang="en-US" sz="1150" dirty="0"/>
          </a:p>
        </p:txBody>
      </p:sp>
      <p:sp>
        <p:nvSpPr>
          <p:cNvPr id="10" name="Text 8"/>
          <p:cNvSpPr/>
          <p:nvPr/>
        </p:nvSpPr>
        <p:spPr>
          <a:xfrm>
            <a:off x="857250" y="2266950"/>
            <a:ext cx="5000625" cy="2609850"/>
          </a:xfrm>
          <a:prstGeom prst="rect">
            <a:avLst/>
          </a:prstGeom>
          <a:noFill/>
          <a:ln/>
        </p:spPr>
        <p:txBody>
          <a:bodyPr wrap="square" lIns="0" tIns="0" rIns="0" bIns="0" rtlCol="0" anchor="t">
            <a:normAutofit/>
          </a:bodyPr>
          <a:lstStyle/>
          <a:p>
            <a:pPr algn="l" indent="0" marL="0">
              <a:buNone/>
            </a:pPr>
            <a:r>
              <a:rPr lang="en-US" sz="920" dirty="0">
                <a:solidFill>
                  <a:srgbClr val="0F172A"/>
                </a:solidFill>
                <a:latin typeface="Courier New" pitchFamily="34" charset="0"/>
                <a:ea typeface="Courier New" pitchFamily="34" charset="-122"/>
                <a:cs typeface="Courier New" pitchFamily="34" charset="-120"/>
              </a:rPr>
              <a:t>from cryptography.hazmat.primitives.ciphers.aead import AESGCM</a:t>
            </a:r>
            <a:endParaRPr lang="en-US" sz="920" dirty="0"/>
          </a:p>
          <a:p>
            <a:pPr algn="l" indent="0" marL="0">
              <a:buNone/>
            </a:pP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ENCRYPTION_ALGORITHM = "AES-256-GCM"</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_MAGIC = b"SS1"</a:t>
            </a:r>
            <a:endParaRPr lang="en-US" sz="920" dirty="0"/>
          </a:p>
          <a:p>
            <a:pPr algn="l" indent="0" marL="0">
              <a:buNone/>
            </a:pP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def _key() -&gt; bytes:</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raw = settings.DATASET_ENCRYPTION_KEY or settings.JWT_SECRET</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try:</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candidate = bytes.fromhex(raw)</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if len(candidate) == 32:</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return candidate</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except Exception:</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pass</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return hashlib.sha256(raw.encode("utf-8")).digest()</a:t>
            </a:r>
            <a:endParaRPr lang="en-US" sz="920" dirty="0"/>
          </a:p>
          <a:p>
            <a:pPr algn="l" indent="0" marL="0">
              <a:buNone/>
            </a:pP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def encrypt_dataset_bytes(content: bytes) -&gt; bytes:</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nonce = os.urandom(12)</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encrypted = AESGCM(_key()).encrypt(nonce, content, None)</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return _MAGIC + nonce + encrypted</a:t>
            </a:r>
            <a:endParaRPr lang="en-US" sz="920" dirty="0"/>
          </a:p>
        </p:txBody>
      </p:sp>
      <p:sp>
        <p:nvSpPr>
          <p:cNvPr id="11" name="Shape 9"/>
          <p:cNvSpPr/>
          <p:nvPr/>
        </p:nvSpPr>
        <p:spPr>
          <a:xfrm>
            <a:off x="6238875" y="1905000"/>
            <a:ext cx="4905375" cy="1352550"/>
          </a:xfrm>
          <a:prstGeom prst="roundRect">
            <a:avLst/>
          </a:prstGeom>
          <a:solidFill>
            <a:srgbClr val="F8FAFC"/>
          </a:solidFill>
          <a:ln w="12700">
            <a:solidFill>
              <a:srgbClr val="D7E3F0"/>
            </a:solidFill>
            <a:prstDash val="solid"/>
          </a:ln>
        </p:spPr>
      </p:sp>
      <p:sp>
        <p:nvSpPr>
          <p:cNvPr id="12" name="Shape 10"/>
          <p:cNvSpPr/>
          <p:nvPr/>
        </p:nvSpPr>
        <p:spPr>
          <a:xfrm>
            <a:off x="6238875" y="1905000"/>
            <a:ext cx="66675" cy="1352550"/>
          </a:xfrm>
          <a:prstGeom prst="rect">
            <a:avLst/>
          </a:prstGeom>
          <a:solidFill>
            <a:srgbClr val="22C55E"/>
          </a:solidFill>
          <a:ln w="12700">
            <a:solidFill>
              <a:srgbClr val="22C55E">
                <a:alpha val="0"/>
              </a:srgbClr>
            </a:solidFill>
            <a:prstDash val="solid"/>
          </a:ln>
        </p:spPr>
      </p:sp>
      <p:sp>
        <p:nvSpPr>
          <p:cNvPr id="13" name="Text 11"/>
          <p:cNvSpPr/>
          <p:nvPr/>
        </p:nvSpPr>
        <p:spPr>
          <a:xfrm>
            <a:off x="6410325" y="2028825"/>
            <a:ext cx="4562475" cy="171450"/>
          </a:xfrm>
          <a:prstGeom prst="rect">
            <a:avLst/>
          </a:prstGeom>
          <a:noFill/>
          <a:ln/>
        </p:spPr>
        <p:txBody>
          <a:bodyPr wrap="square" lIns="0" tIns="0" rIns="0" bIns="0" rtlCol="0" anchor="t">
            <a:normAutofit/>
          </a:bodyPr>
          <a:lstStyle/>
          <a:p>
            <a:pPr algn="l" indent="0" marL="0">
              <a:buNone/>
            </a:pPr>
            <a:r>
              <a:rPr lang="en-US" sz="1150" b="1" dirty="0">
                <a:solidFill>
                  <a:srgbClr val="22C55E"/>
                </a:solidFill>
                <a:latin typeface="Aptos" pitchFamily="34" charset="0"/>
                <a:ea typeface="Aptos" pitchFamily="34" charset="-122"/>
                <a:cs typeface="Aptos" pitchFamily="34" charset="-120"/>
              </a:rPr>
              <a:t>backend/app/services/secure_share.py</a:t>
            </a:r>
            <a:endParaRPr lang="en-US" sz="1150" dirty="0"/>
          </a:p>
        </p:txBody>
      </p:sp>
      <p:sp>
        <p:nvSpPr>
          <p:cNvPr id="14" name="Text 12"/>
          <p:cNvSpPr/>
          <p:nvPr/>
        </p:nvSpPr>
        <p:spPr>
          <a:xfrm>
            <a:off x="6410325" y="2266950"/>
            <a:ext cx="4619625" cy="914400"/>
          </a:xfrm>
          <a:prstGeom prst="rect">
            <a:avLst/>
          </a:prstGeom>
          <a:noFill/>
          <a:ln/>
        </p:spPr>
        <p:txBody>
          <a:bodyPr wrap="square" lIns="0" tIns="0" rIns="0" bIns="0" rtlCol="0" anchor="t">
            <a:normAutofit/>
          </a:bodyPr>
          <a:lstStyle/>
          <a:p>
            <a:pPr algn="l" indent="0" marL="0">
              <a:buNone/>
            </a:pPr>
            <a:r>
              <a:rPr lang="en-US" sz="920" dirty="0">
                <a:solidFill>
                  <a:srgbClr val="0F172A"/>
                </a:solidFill>
                <a:latin typeface="Courier New" pitchFamily="34" charset="0"/>
                <a:ea typeface="Courier New" pitchFamily="34" charset="-122"/>
                <a:cs typeface="Courier New" pitchFamily="34" charset="-120"/>
              </a:rPr>
              <a:t>def decrypt_dataset_bytes(content: bytes) -&gt; bytes:</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if not content.startswith(_MAGIC):</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return content</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nonce = content[len(_MAGIC):len(_MAGIC) + 12]</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encrypted = content[len(_MAGIC) + 12:]</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    return AESGCM(_key()).decrypt(nonce, encrypted, None)</a:t>
            </a:r>
            <a:endParaRPr lang="en-US" sz="920" dirty="0"/>
          </a:p>
        </p:txBody>
      </p:sp>
      <p:sp>
        <p:nvSpPr>
          <p:cNvPr id="15" name="Shape 13"/>
          <p:cNvSpPr/>
          <p:nvPr/>
        </p:nvSpPr>
        <p:spPr>
          <a:xfrm>
            <a:off x="6238875" y="3429000"/>
            <a:ext cx="4905375" cy="1066800"/>
          </a:xfrm>
          <a:prstGeom prst="roundRect">
            <a:avLst/>
          </a:prstGeom>
          <a:solidFill>
            <a:srgbClr val="F8FAFC"/>
          </a:solidFill>
          <a:ln w="12700">
            <a:solidFill>
              <a:srgbClr val="D7E3F0"/>
            </a:solidFill>
            <a:prstDash val="solid"/>
          </a:ln>
        </p:spPr>
      </p:sp>
      <p:sp>
        <p:nvSpPr>
          <p:cNvPr id="16" name="Shape 14"/>
          <p:cNvSpPr/>
          <p:nvPr/>
        </p:nvSpPr>
        <p:spPr>
          <a:xfrm>
            <a:off x="6238875" y="3429000"/>
            <a:ext cx="66675" cy="1066800"/>
          </a:xfrm>
          <a:prstGeom prst="rect">
            <a:avLst/>
          </a:prstGeom>
          <a:solidFill>
            <a:srgbClr val="F59E0B"/>
          </a:solidFill>
          <a:ln w="12700">
            <a:solidFill>
              <a:srgbClr val="F59E0B">
                <a:alpha val="0"/>
              </a:srgbClr>
            </a:solidFill>
            <a:prstDash val="solid"/>
          </a:ln>
        </p:spPr>
      </p:sp>
      <p:sp>
        <p:nvSpPr>
          <p:cNvPr id="17" name="Text 15"/>
          <p:cNvSpPr/>
          <p:nvPr/>
        </p:nvSpPr>
        <p:spPr>
          <a:xfrm>
            <a:off x="6410325" y="3552825"/>
            <a:ext cx="4562475" cy="171450"/>
          </a:xfrm>
          <a:prstGeom prst="rect">
            <a:avLst/>
          </a:prstGeom>
          <a:noFill/>
          <a:ln/>
        </p:spPr>
        <p:txBody>
          <a:bodyPr wrap="square" lIns="0" tIns="0" rIns="0" bIns="0" rtlCol="0" anchor="t">
            <a:normAutofit/>
          </a:bodyPr>
          <a:lstStyle/>
          <a:p>
            <a:pPr algn="l" indent="0" marL="0">
              <a:buNone/>
            </a:pPr>
            <a:r>
              <a:rPr lang="en-US" sz="1150" b="1" dirty="0">
                <a:solidFill>
                  <a:srgbClr val="F59E0B"/>
                </a:solidFill>
                <a:latin typeface="Aptos" pitchFamily="34" charset="0"/>
                <a:ea typeface="Aptos" pitchFamily="34" charset="-122"/>
                <a:cs typeface="Aptos" pitchFamily="34" charset="-120"/>
              </a:rPr>
              <a:t>backend/app/api/routes/files.py</a:t>
            </a:r>
            <a:endParaRPr lang="en-US" sz="1150" dirty="0"/>
          </a:p>
        </p:txBody>
      </p:sp>
      <p:sp>
        <p:nvSpPr>
          <p:cNvPr id="18" name="Text 16"/>
          <p:cNvSpPr/>
          <p:nvPr/>
        </p:nvSpPr>
        <p:spPr>
          <a:xfrm>
            <a:off x="6410325" y="3790950"/>
            <a:ext cx="4619625" cy="628650"/>
          </a:xfrm>
          <a:prstGeom prst="rect">
            <a:avLst/>
          </a:prstGeom>
          <a:noFill/>
          <a:ln/>
        </p:spPr>
        <p:txBody>
          <a:bodyPr wrap="square" lIns="0" tIns="0" rIns="0" bIns="0" rtlCol="0" anchor="t">
            <a:normAutofit/>
          </a:bodyPr>
          <a:lstStyle/>
          <a:p>
            <a:pPr algn="l" indent="0" marL="0">
              <a:buNone/>
            </a:pPr>
            <a:r>
              <a:rPr lang="en-US" sz="920" dirty="0">
                <a:solidFill>
                  <a:srgbClr val="0F172A"/>
                </a:solidFill>
                <a:latin typeface="Courier New" pitchFamily="34" charset="0"/>
                <a:ea typeface="Courier New" pitchFamily="34" charset="-122"/>
                <a:cs typeface="Courier New" pitchFamily="34" charset="-120"/>
              </a:rPr>
              <a:t>content = await file.read()</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encrypted_content = encrypt_dataset_bytes(content)</a:t>
            </a:r>
            <a:endParaRPr lang="en-US" sz="920" dirty="0"/>
          </a:p>
          <a:p>
            <a:pPr algn="l" indent="0" marL="0">
              <a:buNone/>
            </a:pP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(dest / filename).write_bytes(encrypted_content)</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supabase.storage.from_(bucket).upload(storage_path, encrypted_content)</a:t>
            </a:r>
            <a:endParaRPr lang="en-US" sz="920" dirty="0"/>
          </a:p>
        </p:txBody>
      </p:sp>
      <p:sp>
        <p:nvSpPr>
          <p:cNvPr id="19" name="Shape 17"/>
          <p:cNvSpPr/>
          <p:nvPr/>
        </p:nvSpPr>
        <p:spPr>
          <a:xfrm>
            <a:off x="685800" y="5191125"/>
            <a:ext cx="5286375" cy="914400"/>
          </a:xfrm>
          <a:prstGeom prst="roundRect">
            <a:avLst/>
          </a:prstGeom>
          <a:solidFill>
            <a:srgbClr val="F8FAFC"/>
          </a:solidFill>
          <a:ln w="12700">
            <a:solidFill>
              <a:srgbClr val="D7E3F0"/>
            </a:solidFill>
            <a:prstDash val="solid"/>
          </a:ln>
        </p:spPr>
      </p:sp>
      <p:sp>
        <p:nvSpPr>
          <p:cNvPr id="20" name="Shape 18"/>
          <p:cNvSpPr/>
          <p:nvPr/>
        </p:nvSpPr>
        <p:spPr>
          <a:xfrm>
            <a:off x="685800" y="5191125"/>
            <a:ext cx="66675" cy="914400"/>
          </a:xfrm>
          <a:prstGeom prst="rect">
            <a:avLst/>
          </a:prstGeom>
          <a:solidFill>
            <a:srgbClr val="EF4444"/>
          </a:solidFill>
          <a:ln w="12700">
            <a:solidFill>
              <a:srgbClr val="EF4444">
                <a:alpha val="0"/>
              </a:srgbClr>
            </a:solidFill>
            <a:prstDash val="solid"/>
          </a:ln>
        </p:spPr>
      </p:sp>
      <p:sp>
        <p:nvSpPr>
          <p:cNvPr id="21" name="Text 19"/>
          <p:cNvSpPr/>
          <p:nvPr/>
        </p:nvSpPr>
        <p:spPr>
          <a:xfrm>
            <a:off x="857250" y="5314950"/>
            <a:ext cx="4943475" cy="171450"/>
          </a:xfrm>
          <a:prstGeom prst="rect">
            <a:avLst/>
          </a:prstGeom>
          <a:noFill/>
          <a:ln/>
        </p:spPr>
        <p:txBody>
          <a:bodyPr wrap="square" lIns="0" tIns="0" rIns="0" bIns="0" rtlCol="0" anchor="t">
            <a:normAutofit/>
          </a:bodyPr>
          <a:lstStyle/>
          <a:p>
            <a:pPr algn="l" indent="0" marL="0">
              <a:buNone/>
            </a:pPr>
            <a:r>
              <a:rPr lang="en-US" sz="1150" b="1" dirty="0">
                <a:solidFill>
                  <a:srgbClr val="EF4444"/>
                </a:solidFill>
                <a:latin typeface="Aptos" pitchFamily="34" charset="0"/>
                <a:ea typeface="Aptos" pitchFamily="34" charset="-122"/>
                <a:cs typeface="Aptos" pitchFamily="34" charset="-120"/>
              </a:rPr>
              <a:t>backend/app/nodes/sources/file_upload.py + config.py</a:t>
            </a:r>
            <a:endParaRPr lang="en-US" sz="1150" dirty="0"/>
          </a:p>
        </p:txBody>
      </p:sp>
      <p:sp>
        <p:nvSpPr>
          <p:cNvPr id="22" name="Text 20"/>
          <p:cNvSpPr/>
          <p:nvPr/>
        </p:nvSpPr>
        <p:spPr>
          <a:xfrm>
            <a:off x="857250" y="5553075"/>
            <a:ext cx="5000625" cy="476250"/>
          </a:xfrm>
          <a:prstGeom prst="rect">
            <a:avLst/>
          </a:prstGeom>
          <a:noFill/>
          <a:ln/>
        </p:spPr>
        <p:txBody>
          <a:bodyPr wrap="square" lIns="0" tIns="0" rIns="0" bIns="0" rtlCol="0" anchor="t">
            <a:normAutofit/>
          </a:bodyPr>
          <a:lstStyle/>
          <a:p>
            <a:pPr algn="l" indent="0" marL="0">
              <a:buNone/>
            </a:pPr>
            <a:r>
              <a:rPr lang="en-US" sz="920" dirty="0">
                <a:solidFill>
                  <a:srgbClr val="0F172A"/>
                </a:solidFill>
                <a:latin typeface="Courier New" pitchFamily="34" charset="0"/>
                <a:ea typeface="Courier New" pitchFamily="34" charset="-122"/>
                <a:cs typeface="Courier New" pitchFamily="34" charset="-120"/>
              </a:rPr>
              <a:t>return decrypt_dataset_bytes(local_path.read_bytes())</a:t>
            </a: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return decrypt_dataset_bytes(supabase.storage.from_(bucket).download(storage_path))</a:t>
            </a:r>
            <a:endParaRPr lang="en-US" sz="920" dirty="0"/>
          </a:p>
          <a:p>
            <a:pPr algn="l" indent="0" marL="0">
              <a:buNone/>
            </a:pPr>
            <a:endParaRPr lang="en-US" sz="920" dirty="0"/>
          </a:p>
          <a:p>
            <a:pPr algn="l" indent="0" marL="0">
              <a:buNone/>
            </a:pPr>
            <a:r>
              <a:rPr lang="en-US" sz="920" dirty="0">
                <a:solidFill>
                  <a:srgbClr val="0F172A"/>
                </a:solidFill>
                <a:latin typeface="Courier New" pitchFamily="34" charset="0"/>
                <a:ea typeface="Courier New" pitchFamily="34" charset="-122"/>
                <a:cs typeface="Courier New" pitchFamily="34" charset="-120"/>
              </a:rPr>
              <a:t>DATASET_ENCRYPTION_KEY: str = ""</a:t>
            </a:r>
            <a:endParaRPr lang="en-US" sz="920" dirty="0"/>
          </a:p>
        </p:txBody>
      </p:sp>
      <p:sp>
        <p:nvSpPr>
          <p:cNvPr id="23" name="Shape 21"/>
          <p:cNvSpPr/>
          <p:nvPr/>
        </p:nvSpPr>
        <p:spPr>
          <a:xfrm>
            <a:off x="6238875" y="4762500"/>
            <a:ext cx="4905375" cy="1343025"/>
          </a:xfrm>
          <a:prstGeom prst="roundRect">
            <a:avLst/>
          </a:prstGeom>
          <a:solidFill>
            <a:srgbClr val="ECFDF5"/>
          </a:solidFill>
          <a:ln w="12700">
            <a:solidFill>
              <a:srgbClr val="BBF7D0"/>
            </a:solidFill>
            <a:prstDash val="solid"/>
          </a:ln>
        </p:spPr>
      </p:sp>
      <p:sp>
        <p:nvSpPr>
          <p:cNvPr id="24" name="Shape 22"/>
          <p:cNvSpPr/>
          <p:nvPr/>
        </p:nvSpPr>
        <p:spPr>
          <a:xfrm>
            <a:off x="6238875" y="4762500"/>
            <a:ext cx="66675" cy="1343025"/>
          </a:xfrm>
          <a:prstGeom prst="rect">
            <a:avLst/>
          </a:prstGeom>
          <a:solidFill>
            <a:srgbClr val="22C55E"/>
          </a:solidFill>
          <a:ln w="12700">
            <a:solidFill>
              <a:srgbClr val="22C55E">
                <a:alpha val="0"/>
              </a:srgbClr>
            </a:solidFill>
            <a:prstDash val="solid"/>
          </a:ln>
        </p:spPr>
      </p:sp>
      <p:sp>
        <p:nvSpPr>
          <p:cNvPr id="25" name="Text 23"/>
          <p:cNvSpPr/>
          <p:nvPr/>
        </p:nvSpPr>
        <p:spPr>
          <a:xfrm>
            <a:off x="6438900" y="4914900"/>
            <a:ext cx="2476500" cy="209550"/>
          </a:xfrm>
          <a:prstGeom prst="rect">
            <a:avLst/>
          </a:prstGeom>
          <a:noFill/>
          <a:ln/>
        </p:spPr>
        <p:txBody>
          <a:bodyPr wrap="square" lIns="0" tIns="0" rIns="0" bIns="0" rtlCol="0" anchor="t">
            <a:normAutofit/>
          </a:bodyPr>
          <a:lstStyle/>
          <a:p>
            <a:pPr algn="l" indent="0" marL="0">
              <a:buNone/>
            </a:pPr>
            <a:r>
              <a:rPr lang="en-US" sz="1550" b="1" dirty="0">
                <a:solidFill>
                  <a:srgbClr val="166534"/>
                </a:solidFill>
                <a:latin typeface="Aptos" pitchFamily="34" charset="0"/>
                <a:ea typeface="Aptos" pitchFamily="34" charset="-122"/>
                <a:cs typeface="Aptos" pitchFamily="34" charset="-120"/>
              </a:rPr>
              <a:t>AES-256-GCM ne sağlar?</a:t>
            </a:r>
            <a:endParaRPr lang="en-US" sz="1550" dirty="0"/>
          </a:p>
        </p:txBody>
      </p:sp>
      <p:sp>
        <p:nvSpPr>
          <p:cNvPr id="26" name="Shape 24"/>
          <p:cNvSpPr/>
          <p:nvPr/>
        </p:nvSpPr>
        <p:spPr>
          <a:xfrm>
            <a:off x="6477000" y="5295900"/>
            <a:ext cx="104775" cy="104775"/>
          </a:xfrm>
          <a:prstGeom prst="ellipse">
            <a:avLst/>
          </a:prstGeom>
          <a:solidFill>
            <a:srgbClr val="22C55E"/>
          </a:solidFill>
          <a:ln w="12700">
            <a:solidFill>
              <a:srgbClr val="22C55E">
                <a:alpha val="0"/>
              </a:srgbClr>
            </a:solidFill>
            <a:prstDash val="solid"/>
          </a:ln>
        </p:spPr>
      </p:sp>
      <p:sp>
        <p:nvSpPr>
          <p:cNvPr id="27" name="Text 25"/>
          <p:cNvSpPr/>
          <p:nvPr/>
        </p:nvSpPr>
        <p:spPr>
          <a:xfrm>
            <a:off x="6715125" y="5219700"/>
            <a:ext cx="4000500" cy="209550"/>
          </a:xfrm>
          <a:prstGeom prst="rect">
            <a:avLst/>
          </a:prstGeom>
          <a:noFill/>
          <a:ln/>
        </p:spPr>
        <p:txBody>
          <a:bodyPr wrap="square" lIns="0" tIns="0" rIns="0" bIns="0" rtlCol="0" anchor="t">
            <a:normAutofit/>
          </a:bodyPr>
          <a:lstStyle/>
          <a:p>
            <a:pPr algn="l" indent="0" marL="0">
              <a:buNone/>
            </a:pPr>
            <a:r>
              <a:rPr lang="en-US" sz="1340" dirty="0">
                <a:solidFill>
                  <a:srgbClr val="243044"/>
                </a:solidFill>
                <a:latin typeface="Aptos" pitchFamily="34" charset="0"/>
                <a:ea typeface="Aptos" pitchFamily="34" charset="-122"/>
                <a:cs typeface="Aptos" pitchFamily="34" charset="-120"/>
              </a:rPr>
              <a:t>256 bit simetrik key</a:t>
            </a:r>
            <a:endParaRPr lang="en-US" sz="1340" dirty="0"/>
          </a:p>
        </p:txBody>
      </p:sp>
      <p:sp>
        <p:nvSpPr>
          <p:cNvPr id="28" name="Shape 26"/>
          <p:cNvSpPr/>
          <p:nvPr/>
        </p:nvSpPr>
        <p:spPr>
          <a:xfrm>
            <a:off x="6477000" y="5562600"/>
            <a:ext cx="104775" cy="104775"/>
          </a:xfrm>
          <a:prstGeom prst="ellipse">
            <a:avLst/>
          </a:prstGeom>
          <a:solidFill>
            <a:srgbClr val="22C55E"/>
          </a:solidFill>
          <a:ln w="12700">
            <a:solidFill>
              <a:srgbClr val="22C55E">
                <a:alpha val="0"/>
              </a:srgbClr>
            </a:solidFill>
            <a:prstDash val="solid"/>
          </a:ln>
        </p:spPr>
      </p:sp>
      <p:sp>
        <p:nvSpPr>
          <p:cNvPr id="29" name="Text 27"/>
          <p:cNvSpPr/>
          <p:nvPr/>
        </p:nvSpPr>
        <p:spPr>
          <a:xfrm>
            <a:off x="6715125" y="5486400"/>
            <a:ext cx="4000500" cy="209550"/>
          </a:xfrm>
          <a:prstGeom prst="rect">
            <a:avLst/>
          </a:prstGeom>
          <a:noFill/>
          <a:ln/>
        </p:spPr>
        <p:txBody>
          <a:bodyPr wrap="square" lIns="0" tIns="0" rIns="0" bIns="0" rtlCol="0" anchor="t">
            <a:normAutofit/>
          </a:bodyPr>
          <a:lstStyle/>
          <a:p>
            <a:pPr algn="l" indent="0" marL="0">
              <a:buNone/>
            </a:pPr>
            <a:r>
              <a:rPr lang="en-US" sz="1340" dirty="0">
                <a:solidFill>
                  <a:srgbClr val="243044"/>
                </a:solidFill>
                <a:latin typeface="Aptos" pitchFamily="34" charset="0"/>
                <a:ea typeface="Aptos" pitchFamily="34" charset="-122"/>
                <a:cs typeface="Aptos" pitchFamily="34" charset="-120"/>
              </a:rPr>
              <a:t>Gizlilik + bütünlük doğrulaması</a:t>
            </a:r>
            <a:endParaRPr lang="en-US" sz="1340" dirty="0"/>
          </a:p>
        </p:txBody>
      </p:sp>
      <p:sp>
        <p:nvSpPr>
          <p:cNvPr id="30" name="Shape 28"/>
          <p:cNvSpPr/>
          <p:nvPr/>
        </p:nvSpPr>
        <p:spPr>
          <a:xfrm>
            <a:off x="6477000" y="5829300"/>
            <a:ext cx="104775" cy="104775"/>
          </a:xfrm>
          <a:prstGeom prst="ellipse">
            <a:avLst/>
          </a:prstGeom>
          <a:solidFill>
            <a:srgbClr val="22C55E"/>
          </a:solidFill>
          <a:ln w="12700">
            <a:solidFill>
              <a:srgbClr val="22C55E">
                <a:alpha val="0"/>
              </a:srgbClr>
            </a:solidFill>
            <a:prstDash val="solid"/>
          </a:ln>
        </p:spPr>
      </p:sp>
      <p:sp>
        <p:nvSpPr>
          <p:cNvPr id="31" name="Text 29"/>
          <p:cNvSpPr/>
          <p:nvPr/>
        </p:nvSpPr>
        <p:spPr>
          <a:xfrm>
            <a:off x="6715125" y="5753100"/>
            <a:ext cx="4000500" cy="209550"/>
          </a:xfrm>
          <a:prstGeom prst="rect">
            <a:avLst/>
          </a:prstGeom>
          <a:noFill/>
          <a:ln/>
        </p:spPr>
        <p:txBody>
          <a:bodyPr wrap="square" lIns="0" tIns="0" rIns="0" bIns="0" rtlCol="0" anchor="t">
            <a:normAutofit/>
          </a:bodyPr>
          <a:lstStyle/>
          <a:p>
            <a:pPr algn="l" indent="0" marL="0">
              <a:buNone/>
            </a:pPr>
            <a:r>
              <a:rPr lang="en-US" sz="1340" dirty="0">
                <a:solidFill>
                  <a:srgbClr val="243044"/>
                </a:solidFill>
                <a:latin typeface="Aptos" pitchFamily="34" charset="0"/>
                <a:ea typeface="Aptos" pitchFamily="34" charset="-122"/>
                <a:cs typeface="Aptos" pitchFamily="34" charset="-120"/>
              </a:rPr>
              <a:t>Her dosyada 12 byte random nonce</a:t>
            </a:r>
            <a:endParaRPr lang="en-US" sz="13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09</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Permission Model</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İzinler işlem riskine göre ayrıldı.</a:t>
            </a:r>
            <a:endParaRPr lang="en-US" sz="1550" dirty="0"/>
          </a:p>
        </p:txBody>
      </p:sp>
      <p:sp>
        <p:nvSpPr>
          <p:cNvPr id="7" name="Shape 5"/>
          <p:cNvSpPr/>
          <p:nvPr/>
        </p:nvSpPr>
        <p:spPr>
          <a:xfrm>
            <a:off x="857250" y="2047875"/>
            <a:ext cx="10477500" cy="3000375"/>
          </a:xfrm>
          <a:prstGeom prst="roundRect">
            <a:avLst/>
          </a:prstGeom>
          <a:solidFill>
            <a:srgbClr val="F8FBFF"/>
          </a:solidFill>
          <a:ln w="12700">
            <a:solidFill>
              <a:srgbClr val="D7E3F0"/>
            </a:solidFill>
            <a:prstDash val="solid"/>
          </a:ln>
        </p:spPr>
      </p:sp>
      <p:sp>
        <p:nvSpPr>
          <p:cNvPr id="8" name="Shape 6"/>
          <p:cNvSpPr/>
          <p:nvPr/>
        </p:nvSpPr>
        <p:spPr>
          <a:xfrm>
            <a:off x="857250" y="2047875"/>
            <a:ext cx="10477500" cy="514350"/>
          </a:xfrm>
          <a:prstGeom prst="rect">
            <a:avLst/>
          </a:prstGeom>
          <a:solidFill>
            <a:srgbClr val="0B1220"/>
          </a:solidFill>
          <a:ln w="12700">
            <a:solidFill>
              <a:srgbClr val="0B1220">
                <a:alpha val="0"/>
              </a:srgbClr>
            </a:solidFill>
            <a:prstDash val="solid"/>
          </a:ln>
        </p:spPr>
      </p:sp>
      <p:sp>
        <p:nvSpPr>
          <p:cNvPr id="9" name="Text 7"/>
          <p:cNvSpPr/>
          <p:nvPr/>
        </p:nvSpPr>
        <p:spPr>
          <a:xfrm>
            <a:off x="1143000" y="2209800"/>
            <a:ext cx="1905000" cy="20955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İzin</a:t>
            </a:r>
            <a:endParaRPr lang="en-US" sz="1600" dirty="0"/>
          </a:p>
        </p:txBody>
      </p:sp>
      <p:sp>
        <p:nvSpPr>
          <p:cNvPr id="10" name="Text 8"/>
          <p:cNvSpPr/>
          <p:nvPr/>
        </p:nvSpPr>
        <p:spPr>
          <a:xfrm>
            <a:off x="4095750" y="2209800"/>
            <a:ext cx="3429000" cy="20955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Ne sağlar?</a:t>
            </a:r>
            <a:endParaRPr lang="en-US" sz="1600" dirty="0"/>
          </a:p>
        </p:txBody>
      </p:sp>
      <p:sp>
        <p:nvSpPr>
          <p:cNvPr id="11" name="Text 9"/>
          <p:cNvSpPr/>
          <p:nvPr/>
        </p:nvSpPr>
        <p:spPr>
          <a:xfrm>
            <a:off x="8048625" y="2209800"/>
            <a:ext cx="2476500" cy="20955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Aptos" pitchFamily="34" charset="0"/>
                <a:ea typeface="Aptos" pitchFamily="34" charset="-122"/>
                <a:cs typeface="Aptos" pitchFamily="34" charset="-120"/>
              </a:rPr>
              <a:t>Güvenlik nedeni</a:t>
            </a:r>
            <a:endParaRPr lang="en-US" sz="1600" dirty="0"/>
          </a:p>
        </p:txBody>
      </p:sp>
      <p:sp>
        <p:nvSpPr>
          <p:cNvPr id="12" name="Shape 10"/>
          <p:cNvSpPr/>
          <p:nvPr/>
        </p:nvSpPr>
        <p:spPr>
          <a:xfrm>
            <a:off x="1104900" y="2809875"/>
            <a:ext cx="104775" cy="104775"/>
          </a:xfrm>
          <a:prstGeom prst="ellipse">
            <a:avLst/>
          </a:prstGeom>
          <a:solidFill>
            <a:srgbClr val="22C55E"/>
          </a:solidFill>
          <a:ln w="12700">
            <a:solidFill>
              <a:srgbClr val="22C55E">
                <a:alpha val="0"/>
              </a:srgbClr>
            </a:solidFill>
            <a:prstDash val="solid"/>
          </a:ln>
        </p:spPr>
      </p:sp>
      <p:sp>
        <p:nvSpPr>
          <p:cNvPr id="13" name="Text 11"/>
          <p:cNvSpPr/>
          <p:nvPr/>
        </p:nvSpPr>
        <p:spPr>
          <a:xfrm>
            <a:off x="1333500" y="2714625"/>
            <a:ext cx="1714500" cy="285750"/>
          </a:xfrm>
          <a:prstGeom prst="rect">
            <a:avLst/>
          </a:prstGeom>
          <a:noFill/>
          <a:ln/>
        </p:spPr>
        <p:txBody>
          <a:bodyPr wrap="square" lIns="0" tIns="0" rIns="0" bIns="0" rtlCol="0" anchor="t">
            <a:normAutofit/>
          </a:bodyPr>
          <a:lstStyle/>
          <a:p>
            <a:pPr algn="l" indent="0" marL="0">
              <a:buNone/>
            </a:pPr>
            <a:r>
              <a:rPr lang="en-US" sz="1800" b="1" dirty="0">
                <a:solidFill>
                  <a:srgbClr val="0F172A"/>
                </a:solidFill>
                <a:latin typeface="Aptos" pitchFamily="34" charset="0"/>
                <a:ea typeface="Aptos" pitchFamily="34" charset="-122"/>
                <a:cs typeface="Aptos" pitchFamily="34" charset="-120"/>
              </a:rPr>
              <a:t>Owner</a:t>
            </a:r>
            <a:endParaRPr lang="en-US" sz="1800" dirty="0"/>
          </a:p>
        </p:txBody>
      </p:sp>
      <p:sp>
        <p:nvSpPr>
          <p:cNvPr id="14" name="Text 12"/>
          <p:cNvSpPr/>
          <p:nvPr/>
        </p:nvSpPr>
        <p:spPr>
          <a:xfrm>
            <a:off x="4095750" y="2724150"/>
            <a:ext cx="3143250" cy="2857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Tüm işlemler</a:t>
            </a:r>
            <a:endParaRPr lang="en-US" sz="1600" dirty="0"/>
          </a:p>
        </p:txBody>
      </p:sp>
      <p:sp>
        <p:nvSpPr>
          <p:cNvPr id="15" name="Text 13"/>
          <p:cNvSpPr/>
          <p:nvPr/>
        </p:nvSpPr>
        <p:spPr>
          <a:xfrm>
            <a:off x="8048625" y="2724150"/>
            <a:ext cx="2571750" cy="285750"/>
          </a:xfrm>
          <a:prstGeom prst="rect">
            <a:avLst/>
          </a:prstGeom>
          <a:noFill/>
          <a:ln/>
        </p:spPr>
        <p:txBody>
          <a:bodyPr wrap="square" lIns="0" tIns="0" rIns="0" bIns="0" rtlCol="0" anchor="t">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Sahiplik kontrolü</a:t>
            </a:r>
            <a:endParaRPr lang="en-US" sz="1500" dirty="0"/>
          </a:p>
        </p:txBody>
      </p:sp>
      <p:sp>
        <p:nvSpPr>
          <p:cNvPr id="16" name="Shape 14"/>
          <p:cNvSpPr/>
          <p:nvPr/>
        </p:nvSpPr>
        <p:spPr>
          <a:xfrm>
            <a:off x="1104900" y="3362325"/>
            <a:ext cx="104775" cy="104775"/>
          </a:xfrm>
          <a:prstGeom prst="ellipse">
            <a:avLst/>
          </a:prstGeom>
          <a:solidFill>
            <a:srgbClr val="38BDF8"/>
          </a:solidFill>
          <a:ln w="12700">
            <a:solidFill>
              <a:srgbClr val="38BDF8">
                <a:alpha val="0"/>
              </a:srgbClr>
            </a:solidFill>
            <a:prstDash val="solid"/>
          </a:ln>
        </p:spPr>
      </p:sp>
      <p:sp>
        <p:nvSpPr>
          <p:cNvPr id="17" name="Text 15"/>
          <p:cNvSpPr/>
          <p:nvPr/>
        </p:nvSpPr>
        <p:spPr>
          <a:xfrm>
            <a:off x="1333500" y="3267075"/>
            <a:ext cx="1714500" cy="285750"/>
          </a:xfrm>
          <a:prstGeom prst="rect">
            <a:avLst/>
          </a:prstGeom>
          <a:noFill/>
          <a:ln/>
        </p:spPr>
        <p:txBody>
          <a:bodyPr wrap="square" lIns="0" tIns="0" rIns="0" bIns="0" rtlCol="0" anchor="t">
            <a:normAutofit/>
          </a:bodyPr>
          <a:lstStyle/>
          <a:p>
            <a:pPr algn="l" indent="0" marL="0">
              <a:buNone/>
            </a:pPr>
            <a:r>
              <a:rPr lang="en-US" sz="1800" b="1" dirty="0">
                <a:solidFill>
                  <a:srgbClr val="0F172A"/>
                </a:solidFill>
                <a:latin typeface="Aptos" pitchFamily="34" charset="0"/>
                <a:ea typeface="Aptos" pitchFamily="34" charset="-122"/>
                <a:cs typeface="Aptos" pitchFamily="34" charset="-120"/>
              </a:rPr>
              <a:t>View</a:t>
            </a:r>
            <a:endParaRPr lang="en-US" sz="1800" dirty="0"/>
          </a:p>
        </p:txBody>
      </p:sp>
      <p:sp>
        <p:nvSpPr>
          <p:cNvPr id="18" name="Text 16"/>
          <p:cNvSpPr/>
          <p:nvPr/>
        </p:nvSpPr>
        <p:spPr>
          <a:xfrm>
            <a:off x="4095750" y="3276600"/>
            <a:ext cx="3143250" cy="2857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Dataset önizleme</a:t>
            </a:r>
            <a:endParaRPr lang="en-US" sz="1600" dirty="0"/>
          </a:p>
        </p:txBody>
      </p:sp>
      <p:sp>
        <p:nvSpPr>
          <p:cNvPr id="19" name="Text 17"/>
          <p:cNvSpPr/>
          <p:nvPr/>
        </p:nvSpPr>
        <p:spPr>
          <a:xfrm>
            <a:off x="8048625" y="3276600"/>
            <a:ext cx="2571750" cy="285750"/>
          </a:xfrm>
          <a:prstGeom prst="rect">
            <a:avLst/>
          </a:prstGeom>
          <a:noFill/>
          <a:ln/>
        </p:spPr>
        <p:txBody>
          <a:bodyPr wrap="square" lIns="0" tIns="0" rIns="0" bIns="0" rtlCol="0" anchor="t">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Minimum görünürlük</a:t>
            </a:r>
            <a:endParaRPr lang="en-US" sz="1500" dirty="0"/>
          </a:p>
        </p:txBody>
      </p:sp>
      <p:sp>
        <p:nvSpPr>
          <p:cNvPr id="20" name="Shape 18"/>
          <p:cNvSpPr/>
          <p:nvPr/>
        </p:nvSpPr>
        <p:spPr>
          <a:xfrm>
            <a:off x="1104900" y="3914775"/>
            <a:ext cx="104775" cy="104775"/>
          </a:xfrm>
          <a:prstGeom prst="ellipse">
            <a:avLst/>
          </a:prstGeom>
          <a:solidFill>
            <a:srgbClr val="F59E0B"/>
          </a:solidFill>
          <a:ln w="12700">
            <a:solidFill>
              <a:srgbClr val="F59E0B">
                <a:alpha val="0"/>
              </a:srgbClr>
            </a:solidFill>
            <a:prstDash val="solid"/>
          </a:ln>
        </p:spPr>
      </p:sp>
      <p:sp>
        <p:nvSpPr>
          <p:cNvPr id="21" name="Text 19"/>
          <p:cNvSpPr/>
          <p:nvPr/>
        </p:nvSpPr>
        <p:spPr>
          <a:xfrm>
            <a:off x="1333500" y="3819525"/>
            <a:ext cx="1714500" cy="285750"/>
          </a:xfrm>
          <a:prstGeom prst="rect">
            <a:avLst/>
          </a:prstGeom>
          <a:noFill/>
          <a:ln/>
        </p:spPr>
        <p:txBody>
          <a:bodyPr wrap="square" lIns="0" tIns="0" rIns="0" bIns="0" rtlCol="0" anchor="t">
            <a:normAutofit/>
          </a:bodyPr>
          <a:lstStyle/>
          <a:p>
            <a:pPr algn="l" indent="0" marL="0">
              <a:buNone/>
            </a:pPr>
            <a:r>
              <a:rPr lang="en-US" sz="1800" b="1" dirty="0">
                <a:solidFill>
                  <a:srgbClr val="0F172A"/>
                </a:solidFill>
                <a:latin typeface="Aptos" pitchFamily="34" charset="0"/>
                <a:ea typeface="Aptos" pitchFamily="34" charset="-122"/>
                <a:cs typeface="Aptos" pitchFamily="34" charset="-120"/>
              </a:rPr>
              <a:t>Analyze</a:t>
            </a:r>
            <a:endParaRPr lang="en-US" sz="1800" dirty="0"/>
          </a:p>
        </p:txBody>
      </p:sp>
      <p:sp>
        <p:nvSpPr>
          <p:cNvPr id="22" name="Text 20"/>
          <p:cNvSpPr/>
          <p:nvPr/>
        </p:nvSpPr>
        <p:spPr>
          <a:xfrm>
            <a:off x="4095750" y="3829050"/>
            <a:ext cx="3143250" cy="2857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Workflow içinde kullanma</a:t>
            </a:r>
            <a:endParaRPr lang="en-US" sz="1600" dirty="0"/>
          </a:p>
        </p:txBody>
      </p:sp>
      <p:sp>
        <p:nvSpPr>
          <p:cNvPr id="23" name="Text 21"/>
          <p:cNvSpPr/>
          <p:nvPr/>
        </p:nvSpPr>
        <p:spPr>
          <a:xfrm>
            <a:off x="8048625" y="3829050"/>
            <a:ext cx="2571750" cy="285750"/>
          </a:xfrm>
          <a:prstGeom prst="rect">
            <a:avLst/>
          </a:prstGeom>
          <a:noFill/>
          <a:ln/>
        </p:spPr>
        <p:txBody>
          <a:bodyPr wrap="square" lIns="0" tIns="0" rIns="0" bIns="0" rtlCol="0" anchor="t">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Analiz ayrı yetki</a:t>
            </a:r>
            <a:endParaRPr lang="en-US" sz="1500" dirty="0"/>
          </a:p>
        </p:txBody>
      </p:sp>
      <p:sp>
        <p:nvSpPr>
          <p:cNvPr id="24" name="Shape 22"/>
          <p:cNvSpPr/>
          <p:nvPr/>
        </p:nvSpPr>
        <p:spPr>
          <a:xfrm>
            <a:off x="1104900" y="4467225"/>
            <a:ext cx="104775" cy="104775"/>
          </a:xfrm>
          <a:prstGeom prst="ellipse">
            <a:avLst/>
          </a:prstGeom>
          <a:solidFill>
            <a:srgbClr val="EF4444"/>
          </a:solidFill>
          <a:ln w="12700">
            <a:solidFill>
              <a:srgbClr val="EF4444">
                <a:alpha val="0"/>
              </a:srgbClr>
            </a:solidFill>
            <a:prstDash val="solid"/>
          </a:ln>
        </p:spPr>
      </p:sp>
      <p:sp>
        <p:nvSpPr>
          <p:cNvPr id="25" name="Text 23"/>
          <p:cNvSpPr/>
          <p:nvPr/>
        </p:nvSpPr>
        <p:spPr>
          <a:xfrm>
            <a:off x="1333500" y="4371975"/>
            <a:ext cx="1714500" cy="285750"/>
          </a:xfrm>
          <a:prstGeom prst="rect">
            <a:avLst/>
          </a:prstGeom>
          <a:noFill/>
          <a:ln/>
        </p:spPr>
        <p:txBody>
          <a:bodyPr wrap="square" lIns="0" tIns="0" rIns="0" bIns="0" rtlCol="0" anchor="t">
            <a:normAutofit/>
          </a:bodyPr>
          <a:lstStyle/>
          <a:p>
            <a:pPr algn="l" indent="0" marL="0">
              <a:buNone/>
            </a:pPr>
            <a:r>
              <a:rPr lang="en-US" sz="1800" b="1" dirty="0">
                <a:solidFill>
                  <a:srgbClr val="0F172A"/>
                </a:solidFill>
                <a:latin typeface="Aptos" pitchFamily="34" charset="0"/>
                <a:ea typeface="Aptos" pitchFamily="34" charset="-122"/>
                <a:cs typeface="Aptos" pitchFamily="34" charset="-120"/>
              </a:rPr>
              <a:t>Export</a:t>
            </a:r>
            <a:endParaRPr lang="en-US" sz="1800" dirty="0"/>
          </a:p>
        </p:txBody>
      </p:sp>
      <p:sp>
        <p:nvSpPr>
          <p:cNvPr id="26" name="Text 24"/>
          <p:cNvSpPr/>
          <p:nvPr/>
        </p:nvSpPr>
        <p:spPr>
          <a:xfrm>
            <a:off x="4095750" y="4381500"/>
            <a:ext cx="3143250" cy="2857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Rapor / dashboard dışa aktarma</a:t>
            </a:r>
            <a:endParaRPr lang="en-US" sz="1600" dirty="0"/>
          </a:p>
        </p:txBody>
      </p:sp>
      <p:sp>
        <p:nvSpPr>
          <p:cNvPr id="27" name="Text 25"/>
          <p:cNvSpPr/>
          <p:nvPr/>
        </p:nvSpPr>
        <p:spPr>
          <a:xfrm>
            <a:off x="8048625" y="4381500"/>
            <a:ext cx="2571750" cy="285750"/>
          </a:xfrm>
          <a:prstGeom prst="rect">
            <a:avLst/>
          </a:prstGeom>
          <a:noFill/>
          <a:ln/>
        </p:spPr>
        <p:txBody>
          <a:bodyPr wrap="square" lIns="0" tIns="0" rIns="0" bIns="0" rtlCol="0" anchor="t">
            <a:normAutofit/>
          </a:bodyPr>
          <a:lstStyle/>
          <a:p>
            <a:pPr algn="l" indent="0" marL="0">
              <a:buNone/>
            </a:pPr>
            <a:r>
              <a:rPr lang="en-US" sz="1500" dirty="0">
                <a:solidFill>
                  <a:srgbClr val="64748B"/>
                </a:solidFill>
                <a:latin typeface="Aptos" pitchFamily="34" charset="0"/>
                <a:ea typeface="Aptos" pitchFamily="34" charset="-122"/>
                <a:cs typeface="Aptos" pitchFamily="34" charset="-120"/>
              </a:rPr>
              <a:t>Veri çıkışı ayrı risk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10</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Secure Share Panel</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Dataset sahibi paylaşımı kontrollü şekilde başlatır.</a:t>
            </a:r>
            <a:endParaRPr lang="en-US" sz="1550" dirty="0"/>
          </a:p>
        </p:txBody>
      </p:sp>
      <p:sp>
        <p:nvSpPr>
          <p:cNvPr id="7" name="Shape 5"/>
          <p:cNvSpPr/>
          <p:nvPr/>
        </p:nvSpPr>
        <p:spPr>
          <a:xfrm>
            <a:off x="762000" y="2190750"/>
            <a:ext cx="2381250" cy="1428750"/>
          </a:xfrm>
          <a:prstGeom prst="roundRect">
            <a:avLst/>
          </a:prstGeom>
          <a:solidFill>
            <a:srgbClr val="F8FBFF"/>
          </a:solidFill>
          <a:ln w="12700">
            <a:solidFill>
              <a:srgbClr val="D7E3F0"/>
            </a:solidFill>
            <a:prstDash val="solid"/>
          </a:ln>
        </p:spPr>
      </p:sp>
      <p:sp>
        <p:nvSpPr>
          <p:cNvPr id="8" name="Shape 6"/>
          <p:cNvSpPr/>
          <p:nvPr/>
        </p:nvSpPr>
        <p:spPr>
          <a:xfrm>
            <a:off x="762000" y="2190750"/>
            <a:ext cx="66675" cy="1428750"/>
          </a:xfrm>
          <a:prstGeom prst="rect">
            <a:avLst/>
          </a:prstGeom>
          <a:solidFill>
            <a:srgbClr val="38BDF8"/>
          </a:solidFill>
          <a:ln w="12700">
            <a:solidFill>
              <a:srgbClr val="38BDF8">
                <a:alpha val="0"/>
              </a:srgbClr>
            </a:solidFill>
            <a:prstDash val="solid"/>
          </a:ln>
        </p:spPr>
      </p:sp>
      <p:sp>
        <p:nvSpPr>
          <p:cNvPr id="9" name="Text 7"/>
          <p:cNvSpPr/>
          <p:nvPr/>
        </p:nvSpPr>
        <p:spPr>
          <a:xfrm>
            <a:off x="981075" y="2400300"/>
            <a:ext cx="1981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1. Security sekmesi</a:t>
            </a:r>
            <a:endParaRPr lang="en-US" sz="1700" dirty="0"/>
          </a:p>
        </p:txBody>
      </p:sp>
      <p:sp>
        <p:nvSpPr>
          <p:cNvPr id="10" name="Text 8"/>
          <p:cNvSpPr/>
          <p:nvPr/>
        </p:nvSpPr>
        <p:spPr>
          <a:xfrm>
            <a:off x="981075" y="2743200"/>
            <a:ext cx="1981200" cy="7620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Dataset detay ekranında güvenlik ve paylaşım alanı açılır.</a:t>
            </a:r>
            <a:endParaRPr lang="en-US" sz="1350" dirty="0"/>
          </a:p>
        </p:txBody>
      </p:sp>
      <p:sp>
        <p:nvSpPr>
          <p:cNvPr id="11" name="Text 9"/>
          <p:cNvSpPr/>
          <p:nvPr/>
        </p:nvSpPr>
        <p:spPr>
          <a:xfrm>
            <a:off x="3314700" y="2686050"/>
            <a:ext cx="381000" cy="28575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12" name="Shape 10"/>
          <p:cNvSpPr/>
          <p:nvPr/>
        </p:nvSpPr>
        <p:spPr>
          <a:xfrm>
            <a:off x="3857625" y="2190750"/>
            <a:ext cx="2381250" cy="1428750"/>
          </a:xfrm>
          <a:prstGeom prst="roundRect">
            <a:avLst/>
          </a:prstGeom>
          <a:solidFill>
            <a:srgbClr val="F8FBFF"/>
          </a:solidFill>
          <a:ln w="12700">
            <a:solidFill>
              <a:srgbClr val="D7E3F0"/>
            </a:solidFill>
            <a:prstDash val="solid"/>
          </a:ln>
        </p:spPr>
      </p:sp>
      <p:sp>
        <p:nvSpPr>
          <p:cNvPr id="13" name="Shape 11"/>
          <p:cNvSpPr/>
          <p:nvPr/>
        </p:nvSpPr>
        <p:spPr>
          <a:xfrm>
            <a:off x="3857625" y="2190750"/>
            <a:ext cx="66675" cy="1428750"/>
          </a:xfrm>
          <a:prstGeom prst="rect">
            <a:avLst/>
          </a:prstGeom>
          <a:solidFill>
            <a:srgbClr val="22C55E"/>
          </a:solidFill>
          <a:ln w="12700">
            <a:solidFill>
              <a:srgbClr val="22C55E">
                <a:alpha val="0"/>
              </a:srgbClr>
            </a:solidFill>
            <a:prstDash val="solid"/>
          </a:ln>
        </p:spPr>
      </p:sp>
      <p:sp>
        <p:nvSpPr>
          <p:cNvPr id="14" name="Text 12"/>
          <p:cNvSpPr/>
          <p:nvPr/>
        </p:nvSpPr>
        <p:spPr>
          <a:xfrm>
            <a:off x="4076700" y="2400300"/>
            <a:ext cx="1981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2. Email girilir</a:t>
            </a:r>
            <a:endParaRPr lang="en-US" sz="1700" dirty="0"/>
          </a:p>
        </p:txBody>
      </p:sp>
      <p:sp>
        <p:nvSpPr>
          <p:cNvPr id="15" name="Text 13"/>
          <p:cNvSpPr/>
          <p:nvPr/>
        </p:nvSpPr>
        <p:spPr>
          <a:xfrm>
            <a:off x="4076700" y="2743200"/>
            <a:ext cx="1981200" cy="7620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Paylaşılacak kullanıcının e-posta adresi yazılır.</a:t>
            </a:r>
            <a:endParaRPr lang="en-US" sz="1350" dirty="0"/>
          </a:p>
        </p:txBody>
      </p:sp>
      <p:sp>
        <p:nvSpPr>
          <p:cNvPr id="16" name="Text 14"/>
          <p:cNvSpPr/>
          <p:nvPr/>
        </p:nvSpPr>
        <p:spPr>
          <a:xfrm>
            <a:off x="6410325" y="2686050"/>
            <a:ext cx="381000" cy="28575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17" name="Shape 15"/>
          <p:cNvSpPr/>
          <p:nvPr/>
        </p:nvSpPr>
        <p:spPr>
          <a:xfrm>
            <a:off x="6953250" y="2190750"/>
            <a:ext cx="2381250" cy="1428750"/>
          </a:xfrm>
          <a:prstGeom prst="roundRect">
            <a:avLst/>
          </a:prstGeom>
          <a:solidFill>
            <a:srgbClr val="F8FBFF"/>
          </a:solidFill>
          <a:ln w="12700">
            <a:solidFill>
              <a:srgbClr val="D7E3F0"/>
            </a:solidFill>
            <a:prstDash val="solid"/>
          </a:ln>
        </p:spPr>
      </p:sp>
      <p:sp>
        <p:nvSpPr>
          <p:cNvPr id="18" name="Shape 16"/>
          <p:cNvSpPr/>
          <p:nvPr/>
        </p:nvSpPr>
        <p:spPr>
          <a:xfrm>
            <a:off x="6953250" y="2190750"/>
            <a:ext cx="66675" cy="1428750"/>
          </a:xfrm>
          <a:prstGeom prst="rect">
            <a:avLst/>
          </a:prstGeom>
          <a:solidFill>
            <a:srgbClr val="F59E0B"/>
          </a:solidFill>
          <a:ln w="12700">
            <a:solidFill>
              <a:srgbClr val="F59E0B">
                <a:alpha val="0"/>
              </a:srgbClr>
            </a:solidFill>
            <a:prstDash val="solid"/>
          </a:ln>
        </p:spPr>
      </p:sp>
      <p:sp>
        <p:nvSpPr>
          <p:cNvPr id="19" name="Text 17"/>
          <p:cNvSpPr/>
          <p:nvPr/>
        </p:nvSpPr>
        <p:spPr>
          <a:xfrm>
            <a:off x="7172325" y="2400300"/>
            <a:ext cx="1981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3. İzin seçilir</a:t>
            </a:r>
            <a:endParaRPr lang="en-US" sz="1700" dirty="0"/>
          </a:p>
        </p:txBody>
      </p:sp>
      <p:sp>
        <p:nvSpPr>
          <p:cNvPr id="20" name="Text 18"/>
          <p:cNvSpPr/>
          <p:nvPr/>
        </p:nvSpPr>
        <p:spPr>
          <a:xfrm>
            <a:off x="7172325" y="2743200"/>
            <a:ext cx="1981200" cy="7620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view, analyze veya export izni belirlenir.</a:t>
            </a:r>
            <a:endParaRPr lang="en-US" sz="1350" dirty="0"/>
          </a:p>
        </p:txBody>
      </p:sp>
      <p:sp>
        <p:nvSpPr>
          <p:cNvPr id="21" name="Text 19"/>
          <p:cNvSpPr/>
          <p:nvPr/>
        </p:nvSpPr>
        <p:spPr>
          <a:xfrm>
            <a:off x="9505950" y="2686050"/>
            <a:ext cx="381000" cy="28575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22" name="Shape 20"/>
          <p:cNvSpPr/>
          <p:nvPr/>
        </p:nvSpPr>
        <p:spPr>
          <a:xfrm>
            <a:off x="10048875" y="2190750"/>
            <a:ext cx="1476375" cy="1428750"/>
          </a:xfrm>
          <a:prstGeom prst="roundRect">
            <a:avLst/>
          </a:prstGeom>
          <a:solidFill>
            <a:srgbClr val="F8FBFF"/>
          </a:solidFill>
          <a:ln w="12700">
            <a:solidFill>
              <a:srgbClr val="D7E3F0"/>
            </a:solidFill>
            <a:prstDash val="solid"/>
          </a:ln>
        </p:spPr>
      </p:sp>
      <p:sp>
        <p:nvSpPr>
          <p:cNvPr id="23" name="Shape 21"/>
          <p:cNvSpPr/>
          <p:nvPr/>
        </p:nvSpPr>
        <p:spPr>
          <a:xfrm>
            <a:off x="10048875" y="2190750"/>
            <a:ext cx="66675" cy="1428750"/>
          </a:xfrm>
          <a:prstGeom prst="rect">
            <a:avLst/>
          </a:prstGeom>
          <a:solidFill>
            <a:srgbClr val="EF4444"/>
          </a:solidFill>
          <a:ln w="12700">
            <a:solidFill>
              <a:srgbClr val="EF4444">
                <a:alpha val="0"/>
              </a:srgbClr>
            </a:solidFill>
            <a:prstDash val="solid"/>
          </a:ln>
        </p:spPr>
      </p:sp>
      <p:sp>
        <p:nvSpPr>
          <p:cNvPr id="24" name="Text 22"/>
          <p:cNvSpPr/>
          <p:nvPr/>
        </p:nvSpPr>
        <p:spPr>
          <a:xfrm>
            <a:off x="10267950" y="2400300"/>
            <a:ext cx="1076325"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4. Süre</a:t>
            </a:r>
            <a:endParaRPr lang="en-US" sz="1700" dirty="0"/>
          </a:p>
        </p:txBody>
      </p:sp>
      <p:sp>
        <p:nvSpPr>
          <p:cNvPr id="25" name="Text 23"/>
          <p:cNvSpPr/>
          <p:nvPr/>
        </p:nvSpPr>
        <p:spPr>
          <a:xfrm>
            <a:off x="10267950" y="2743200"/>
            <a:ext cx="1076325" cy="7620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24h, 7d veya never</a:t>
            </a:r>
            <a:endParaRPr lang="en-US" sz="1350" dirty="0"/>
          </a:p>
        </p:txBody>
      </p:sp>
      <p:sp>
        <p:nvSpPr>
          <p:cNvPr id="26" name="Shape 24"/>
          <p:cNvSpPr/>
          <p:nvPr/>
        </p:nvSpPr>
        <p:spPr>
          <a:xfrm>
            <a:off x="1952625" y="4476750"/>
            <a:ext cx="8286750" cy="552450"/>
          </a:xfrm>
          <a:prstGeom prst="roundRect">
            <a:avLst/>
          </a:prstGeom>
          <a:solidFill>
            <a:srgbClr val="0B1220"/>
          </a:solidFill>
          <a:ln w="12700">
            <a:solidFill>
              <a:srgbClr val="0B1220">
                <a:alpha val="0"/>
              </a:srgbClr>
            </a:solidFill>
            <a:prstDash val="solid"/>
          </a:ln>
        </p:spPr>
      </p:sp>
      <p:sp>
        <p:nvSpPr>
          <p:cNvPr id="27" name="Text 25"/>
          <p:cNvSpPr/>
          <p:nvPr/>
        </p:nvSpPr>
        <p:spPr>
          <a:xfrm>
            <a:off x="2286000" y="4648200"/>
            <a:ext cx="7620000" cy="228600"/>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Paylaşım, kullanıcının hesabındaki email ile eşleştiğinde aktif hale gelir.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11</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Workflow Öncesi Permission Check</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Yetkisiz analiz backend tarafından engellenir.</a:t>
            </a:r>
            <a:endParaRPr lang="en-US" sz="1550" dirty="0"/>
          </a:p>
        </p:txBody>
      </p:sp>
      <p:sp>
        <p:nvSpPr>
          <p:cNvPr id="7" name="Shape 5"/>
          <p:cNvSpPr/>
          <p:nvPr/>
        </p:nvSpPr>
        <p:spPr>
          <a:xfrm>
            <a:off x="1047750" y="2190750"/>
            <a:ext cx="2667000" cy="1619250"/>
          </a:xfrm>
          <a:prstGeom prst="roundRect">
            <a:avLst/>
          </a:prstGeom>
          <a:solidFill>
            <a:srgbClr val="F8FBFF"/>
          </a:solidFill>
          <a:ln w="12700">
            <a:solidFill>
              <a:srgbClr val="D7E3F0"/>
            </a:solidFill>
            <a:prstDash val="solid"/>
          </a:ln>
        </p:spPr>
      </p:sp>
      <p:sp>
        <p:nvSpPr>
          <p:cNvPr id="8" name="Shape 6"/>
          <p:cNvSpPr/>
          <p:nvPr/>
        </p:nvSpPr>
        <p:spPr>
          <a:xfrm>
            <a:off x="1047750" y="2190750"/>
            <a:ext cx="66675" cy="1619250"/>
          </a:xfrm>
          <a:prstGeom prst="rect">
            <a:avLst/>
          </a:prstGeom>
          <a:solidFill>
            <a:srgbClr val="38BDF8"/>
          </a:solidFill>
          <a:ln w="12700">
            <a:solidFill>
              <a:srgbClr val="38BDF8">
                <a:alpha val="0"/>
              </a:srgbClr>
            </a:solidFill>
            <a:prstDash val="solid"/>
          </a:ln>
        </p:spPr>
      </p:sp>
      <p:sp>
        <p:nvSpPr>
          <p:cNvPr id="9" name="Text 7"/>
          <p:cNvSpPr/>
          <p:nvPr/>
        </p:nvSpPr>
        <p:spPr>
          <a:xfrm>
            <a:off x="1266825" y="2400300"/>
            <a:ext cx="226695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Dataset seçilir</a:t>
            </a:r>
            <a:endParaRPr lang="en-US" sz="1700" dirty="0"/>
          </a:p>
        </p:txBody>
      </p:sp>
      <p:sp>
        <p:nvSpPr>
          <p:cNvPr id="10" name="Text 8"/>
          <p:cNvSpPr/>
          <p:nvPr/>
        </p:nvSpPr>
        <p:spPr>
          <a:xfrm>
            <a:off x="1266825" y="2743200"/>
            <a:ext cx="2266950" cy="952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Workflow içinde file upload node’u bir dataset referansı taşır.</a:t>
            </a:r>
            <a:endParaRPr lang="en-US" sz="1350" dirty="0"/>
          </a:p>
        </p:txBody>
      </p:sp>
      <p:sp>
        <p:nvSpPr>
          <p:cNvPr id="11" name="Text 9"/>
          <p:cNvSpPr/>
          <p:nvPr/>
        </p:nvSpPr>
        <p:spPr>
          <a:xfrm>
            <a:off x="4000500" y="2781300"/>
            <a:ext cx="381000" cy="28575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12" name="Shape 10"/>
          <p:cNvSpPr/>
          <p:nvPr/>
        </p:nvSpPr>
        <p:spPr>
          <a:xfrm>
            <a:off x="4667250" y="2190750"/>
            <a:ext cx="2857500" cy="1619250"/>
          </a:xfrm>
          <a:prstGeom prst="roundRect">
            <a:avLst/>
          </a:prstGeom>
          <a:solidFill>
            <a:srgbClr val="F8FBFF"/>
          </a:solidFill>
          <a:ln w="12700">
            <a:solidFill>
              <a:srgbClr val="D7E3F0"/>
            </a:solidFill>
            <a:prstDash val="solid"/>
          </a:ln>
        </p:spPr>
      </p:sp>
      <p:sp>
        <p:nvSpPr>
          <p:cNvPr id="13" name="Shape 11"/>
          <p:cNvSpPr/>
          <p:nvPr/>
        </p:nvSpPr>
        <p:spPr>
          <a:xfrm>
            <a:off x="4667250" y="2190750"/>
            <a:ext cx="66675" cy="1619250"/>
          </a:xfrm>
          <a:prstGeom prst="rect">
            <a:avLst/>
          </a:prstGeom>
          <a:solidFill>
            <a:srgbClr val="22C55E"/>
          </a:solidFill>
          <a:ln w="12700">
            <a:solidFill>
              <a:srgbClr val="22C55E">
                <a:alpha val="0"/>
              </a:srgbClr>
            </a:solidFill>
            <a:prstDash val="solid"/>
          </a:ln>
        </p:spPr>
      </p:sp>
      <p:sp>
        <p:nvSpPr>
          <p:cNvPr id="14" name="Text 12"/>
          <p:cNvSpPr/>
          <p:nvPr/>
        </p:nvSpPr>
        <p:spPr>
          <a:xfrm>
            <a:off x="4886325" y="2400300"/>
            <a:ext cx="245745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Analyze izni kontrol edilir</a:t>
            </a:r>
            <a:endParaRPr lang="en-US" sz="1700" dirty="0"/>
          </a:p>
        </p:txBody>
      </p:sp>
      <p:sp>
        <p:nvSpPr>
          <p:cNvPr id="15" name="Text 13"/>
          <p:cNvSpPr/>
          <p:nvPr/>
        </p:nvSpPr>
        <p:spPr>
          <a:xfrm>
            <a:off x="4886325" y="2743200"/>
            <a:ext cx="2457450" cy="952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Backend, SecureShare katmanı üzerinden kullanıcı yetkisini doğrular.</a:t>
            </a:r>
            <a:endParaRPr lang="en-US" sz="1350" dirty="0"/>
          </a:p>
        </p:txBody>
      </p:sp>
      <p:sp>
        <p:nvSpPr>
          <p:cNvPr id="16" name="Text 14"/>
          <p:cNvSpPr/>
          <p:nvPr/>
        </p:nvSpPr>
        <p:spPr>
          <a:xfrm>
            <a:off x="7810500" y="2781300"/>
            <a:ext cx="381000" cy="285750"/>
          </a:xfrm>
          <a:prstGeom prst="rect">
            <a:avLst/>
          </a:prstGeom>
          <a:noFill/>
          <a:ln/>
        </p:spPr>
        <p:txBody>
          <a:bodyPr wrap="square" lIns="0" tIns="0" rIns="0" bIns="0" rtlCol="0" anchor="t">
            <a:normAutofit/>
          </a:bodyPr>
          <a:lstStyle/>
          <a:p>
            <a:pPr algn="ctr" indent="0" marL="0">
              <a:buNone/>
            </a:pPr>
            <a:r>
              <a:rPr lang="en-US" sz="2500" b="1" dirty="0">
                <a:solidFill>
                  <a:srgbClr val="0EA5E9"/>
                </a:solidFill>
                <a:latin typeface="Aptos" pitchFamily="34" charset="0"/>
                <a:ea typeface="Aptos" pitchFamily="34" charset="-122"/>
                <a:cs typeface="Aptos" pitchFamily="34" charset="-120"/>
              </a:rPr>
              <a:t>→</a:t>
            </a:r>
            <a:endParaRPr lang="en-US" sz="2500" dirty="0"/>
          </a:p>
        </p:txBody>
      </p:sp>
      <p:sp>
        <p:nvSpPr>
          <p:cNvPr id="17" name="Shape 15"/>
          <p:cNvSpPr/>
          <p:nvPr/>
        </p:nvSpPr>
        <p:spPr>
          <a:xfrm>
            <a:off x="8477250" y="2190750"/>
            <a:ext cx="2667000" cy="1619250"/>
          </a:xfrm>
          <a:prstGeom prst="roundRect">
            <a:avLst/>
          </a:prstGeom>
          <a:solidFill>
            <a:srgbClr val="F8FBFF"/>
          </a:solidFill>
          <a:ln w="12700">
            <a:solidFill>
              <a:srgbClr val="D7E3F0"/>
            </a:solidFill>
            <a:prstDash val="solid"/>
          </a:ln>
        </p:spPr>
      </p:sp>
      <p:sp>
        <p:nvSpPr>
          <p:cNvPr id="18" name="Shape 16"/>
          <p:cNvSpPr/>
          <p:nvPr/>
        </p:nvSpPr>
        <p:spPr>
          <a:xfrm>
            <a:off x="8477250" y="2190750"/>
            <a:ext cx="66675" cy="1619250"/>
          </a:xfrm>
          <a:prstGeom prst="rect">
            <a:avLst/>
          </a:prstGeom>
          <a:solidFill>
            <a:srgbClr val="EF4444"/>
          </a:solidFill>
          <a:ln w="12700">
            <a:solidFill>
              <a:srgbClr val="EF4444">
                <a:alpha val="0"/>
              </a:srgbClr>
            </a:solidFill>
            <a:prstDash val="solid"/>
          </a:ln>
        </p:spPr>
      </p:sp>
      <p:sp>
        <p:nvSpPr>
          <p:cNvPr id="19" name="Text 17"/>
          <p:cNvSpPr/>
          <p:nvPr/>
        </p:nvSpPr>
        <p:spPr>
          <a:xfrm>
            <a:off x="8696325" y="2400300"/>
            <a:ext cx="226695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Karar verilir</a:t>
            </a:r>
            <a:endParaRPr lang="en-US" sz="1700" dirty="0"/>
          </a:p>
        </p:txBody>
      </p:sp>
      <p:sp>
        <p:nvSpPr>
          <p:cNvPr id="20" name="Text 18"/>
          <p:cNvSpPr/>
          <p:nvPr/>
        </p:nvSpPr>
        <p:spPr>
          <a:xfrm>
            <a:off x="8696325" y="2743200"/>
            <a:ext cx="2266950" cy="952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İzin varsa workflow çalışır, yoksa erişim reddedilir.</a:t>
            </a:r>
            <a:endParaRPr lang="en-US" sz="1350" dirty="0"/>
          </a:p>
        </p:txBody>
      </p:sp>
      <p:sp>
        <p:nvSpPr>
          <p:cNvPr id="21" name="Shape 19"/>
          <p:cNvSpPr/>
          <p:nvPr/>
        </p:nvSpPr>
        <p:spPr>
          <a:xfrm>
            <a:off x="1809750" y="4619625"/>
            <a:ext cx="8572500" cy="647700"/>
          </a:xfrm>
          <a:prstGeom prst="roundRect">
            <a:avLst/>
          </a:prstGeom>
          <a:solidFill>
            <a:srgbClr val="F8FAFC"/>
          </a:solidFill>
          <a:ln w="12700">
            <a:solidFill>
              <a:srgbClr val="D7E3F0"/>
            </a:solidFill>
            <a:prstDash val="solid"/>
          </a:ln>
        </p:spPr>
      </p:sp>
      <p:sp>
        <p:nvSpPr>
          <p:cNvPr id="22" name="Text 20"/>
          <p:cNvSpPr/>
          <p:nvPr/>
        </p:nvSpPr>
        <p:spPr>
          <a:xfrm>
            <a:off x="2095500" y="4819650"/>
            <a:ext cx="8001000" cy="247650"/>
          </a:xfrm>
          <a:prstGeom prst="rect">
            <a:avLst/>
          </a:prstGeom>
          <a:noFill/>
          <a:ln/>
        </p:spPr>
        <p:txBody>
          <a:bodyPr wrap="square" lIns="0" tIns="0" rIns="0" bIns="0" rtlCol="0" anchor="t">
            <a:normAutofit/>
          </a:bodyPr>
          <a:lstStyle/>
          <a:p>
            <a:pPr algn="ctr" indent="0" marL="0">
              <a:buNone/>
            </a:pPr>
            <a:r>
              <a:rPr lang="en-US" sz="2000" b="1" dirty="0">
                <a:solidFill>
                  <a:srgbClr val="0F172A"/>
                </a:solidFill>
                <a:latin typeface="Aptos" pitchFamily="34" charset="0"/>
                <a:ea typeface="Aptos" pitchFamily="34" charset="-122"/>
                <a:cs typeface="Aptos" pitchFamily="34" charset="-120"/>
              </a:rPr>
              <a:t>Frontend manipüle edilse bile backend kontrolü aşılmadan workflow çalışmaz.</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12</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Export Güvenliği</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Dışa aktarma, analizden ayrı ve daha riskli bir işlemdir.</a:t>
            </a:r>
            <a:endParaRPr lang="en-US" sz="1550" dirty="0"/>
          </a:p>
        </p:txBody>
      </p:sp>
      <p:sp>
        <p:nvSpPr>
          <p:cNvPr id="7" name="Shape 5"/>
          <p:cNvSpPr/>
          <p:nvPr/>
        </p:nvSpPr>
        <p:spPr>
          <a:xfrm>
            <a:off x="1000125" y="2171700"/>
            <a:ext cx="104775" cy="104775"/>
          </a:xfrm>
          <a:prstGeom prst="ellipse">
            <a:avLst/>
          </a:prstGeom>
          <a:solidFill>
            <a:srgbClr val="EF4444"/>
          </a:solidFill>
          <a:ln w="12700">
            <a:solidFill>
              <a:srgbClr val="EF4444">
                <a:alpha val="0"/>
              </a:srgbClr>
            </a:solidFill>
            <a:prstDash val="solid"/>
          </a:ln>
        </p:spPr>
      </p:sp>
      <p:sp>
        <p:nvSpPr>
          <p:cNvPr id="8" name="Text 6"/>
          <p:cNvSpPr/>
          <p:nvPr/>
        </p:nvSpPr>
        <p:spPr>
          <a:xfrm>
            <a:off x="1238250" y="20955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Dashboard veya rapor üretmek tek başına export izni anlamına gelmez.</a:t>
            </a:r>
            <a:endParaRPr lang="en-US" sz="2100" dirty="0"/>
          </a:p>
        </p:txBody>
      </p:sp>
      <p:sp>
        <p:nvSpPr>
          <p:cNvPr id="9" name="Shape 7"/>
          <p:cNvSpPr/>
          <p:nvPr/>
        </p:nvSpPr>
        <p:spPr>
          <a:xfrm>
            <a:off x="1000125" y="2819400"/>
            <a:ext cx="104775" cy="104775"/>
          </a:xfrm>
          <a:prstGeom prst="ellipse">
            <a:avLst/>
          </a:prstGeom>
          <a:solidFill>
            <a:srgbClr val="EF4444"/>
          </a:solidFill>
          <a:ln w="12700">
            <a:solidFill>
              <a:srgbClr val="EF4444">
                <a:alpha val="0"/>
              </a:srgbClr>
            </a:solidFill>
            <a:prstDash val="solid"/>
          </a:ln>
        </p:spPr>
      </p:sp>
      <p:sp>
        <p:nvSpPr>
          <p:cNvPr id="10" name="Text 8"/>
          <p:cNvSpPr/>
          <p:nvPr/>
        </p:nvSpPr>
        <p:spPr>
          <a:xfrm>
            <a:off x="1238250" y="27432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Export izni olmayan kullanıcı için indirme/yazdırma pasif hale gelir.</a:t>
            </a:r>
            <a:endParaRPr lang="en-US" sz="2100" dirty="0"/>
          </a:p>
        </p:txBody>
      </p:sp>
      <p:sp>
        <p:nvSpPr>
          <p:cNvPr id="11" name="Shape 9"/>
          <p:cNvSpPr/>
          <p:nvPr/>
        </p:nvSpPr>
        <p:spPr>
          <a:xfrm>
            <a:off x="1000125" y="3467100"/>
            <a:ext cx="104775" cy="104775"/>
          </a:xfrm>
          <a:prstGeom prst="ellipse">
            <a:avLst/>
          </a:prstGeom>
          <a:solidFill>
            <a:srgbClr val="EF4444"/>
          </a:solidFill>
          <a:ln w="12700">
            <a:solidFill>
              <a:srgbClr val="EF4444">
                <a:alpha val="0"/>
              </a:srgbClr>
            </a:solidFill>
            <a:prstDash val="solid"/>
          </a:ln>
        </p:spPr>
      </p:sp>
      <p:sp>
        <p:nvSpPr>
          <p:cNvPr id="12" name="Text 10"/>
          <p:cNvSpPr/>
          <p:nvPr/>
        </p:nvSpPr>
        <p:spPr>
          <a:xfrm>
            <a:off x="1238250" y="33909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Backend export isteğini ayrıca kontrol eder.</a:t>
            </a:r>
            <a:endParaRPr lang="en-US" sz="2100" dirty="0"/>
          </a:p>
        </p:txBody>
      </p:sp>
      <p:sp>
        <p:nvSpPr>
          <p:cNvPr id="13" name="Shape 11"/>
          <p:cNvSpPr/>
          <p:nvPr/>
        </p:nvSpPr>
        <p:spPr>
          <a:xfrm>
            <a:off x="1000125" y="4114800"/>
            <a:ext cx="104775" cy="104775"/>
          </a:xfrm>
          <a:prstGeom prst="ellipse">
            <a:avLst/>
          </a:prstGeom>
          <a:solidFill>
            <a:srgbClr val="EF4444"/>
          </a:solidFill>
          <a:ln w="12700">
            <a:solidFill>
              <a:srgbClr val="EF4444">
                <a:alpha val="0"/>
              </a:srgbClr>
            </a:solidFill>
            <a:prstDash val="solid"/>
          </a:ln>
        </p:spPr>
      </p:sp>
      <p:sp>
        <p:nvSpPr>
          <p:cNvPr id="14" name="Text 12"/>
          <p:cNvSpPr/>
          <p:nvPr/>
        </p:nvSpPr>
        <p:spPr>
          <a:xfrm>
            <a:off x="1238250" y="4038600"/>
            <a:ext cx="8239125" cy="361950"/>
          </a:xfrm>
          <a:prstGeom prst="rect">
            <a:avLst/>
          </a:prstGeom>
          <a:noFill/>
          <a:ln/>
        </p:spPr>
        <p:txBody>
          <a:bodyPr wrap="square" lIns="0" tIns="0" rIns="0" bIns="0" rtlCol="0" anchor="t">
            <a:normAutofit/>
          </a:bodyPr>
          <a:lstStyle/>
          <a:p>
            <a:pPr algn="l" indent="0" marL="0">
              <a:buNone/>
            </a:pPr>
            <a:r>
              <a:rPr lang="en-US" sz="2100" dirty="0">
                <a:solidFill>
                  <a:srgbClr val="243044"/>
                </a:solidFill>
                <a:latin typeface="Aptos" pitchFamily="34" charset="0"/>
                <a:ea typeface="Aptos" pitchFamily="34" charset="-122"/>
                <a:cs typeface="Aptos" pitchFamily="34" charset="-120"/>
              </a:rPr>
              <a:t>Bu ayrım veri sızıntısı riskini azaltır.</a:t>
            </a:r>
            <a:endParaRPr lang="en-US" sz="2100" dirty="0"/>
          </a:p>
        </p:txBody>
      </p:sp>
      <p:sp>
        <p:nvSpPr>
          <p:cNvPr id="15" name="Shape 13"/>
          <p:cNvSpPr/>
          <p:nvPr/>
        </p:nvSpPr>
        <p:spPr>
          <a:xfrm>
            <a:off x="7953375" y="2333625"/>
            <a:ext cx="2619375" cy="1714500"/>
          </a:xfrm>
          <a:prstGeom prst="roundRect">
            <a:avLst/>
          </a:prstGeom>
          <a:solidFill>
            <a:srgbClr val="FEF2F2"/>
          </a:solidFill>
          <a:ln w="12700">
            <a:solidFill>
              <a:srgbClr val="FECACA"/>
            </a:solidFill>
            <a:prstDash val="solid"/>
          </a:ln>
        </p:spPr>
      </p:sp>
      <p:sp>
        <p:nvSpPr>
          <p:cNvPr id="16" name="Text 14"/>
          <p:cNvSpPr/>
          <p:nvPr/>
        </p:nvSpPr>
        <p:spPr>
          <a:xfrm>
            <a:off x="8239125" y="2762250"/>
            <a:ext cx="2047875" cy="742950"/>
          </a:xfrm>
          <a:prstGeom prst="rect">
            <a:avLst/>
          </a:prstGeom>
          <a:noFill/>
          <a:ln/>
        </p:spPr>
        <p:txBody>
          <a:bodyPr wrap="square" lIns="0" tIns="0" rIns="0" bIns="0" rtlCol="0" anchor="t">
            <a:normAutofit/>
          </a:bodyPr>
          <a:lstStyle/>
          <a:p>
            <a:pPr algn="ctr" indent="0" marL="0">
              <a:buNone/>
            </a:pPr>
            <a:r>
              <a:rPr lang="en-US" sz="2200" b="1" dirty="0">
                <a:solidFill>
                  <a:srgbClr val="991B1B"/>
                </a:solidFill>
                <a:latin typeface="Aptos" pitchFamily="34" charset="0"/>
                <a:ea typeface="Aptos" pitchFamily="34" charset="-122"/>
                <a:cs typeface="Aptos" pitchFamily="34" charset="-120"/>
              </a:rPr>
              <a:t>Export =</a:t>
            </a:r>
            <a:endParaRPr lang="en-US" sz="2200" dirty="0"/>
          </a:p>
          <a:p>
            <a:pPr algn="ctr" indent="0" marL="0">
              <a:buNone/>
            </a:pPr>
            <a:r>
              <a:rPr lang="en-US" sz="2200" b="1" dirty="0">
                <a:solidFill>
                  <a:srgbClr val="991B1B"/>
                </a:solidFill>
                <a:latin typeface="Aptos" pitchFamily="34" charset="0"/>
                <a:ea typeface="Aptos" pitchFamily="34" charset="-122"/>
                <a:cs typeface="Aptos" pitchFamily="34" charset="-120"/>
              </a:rPr>
              <a:t>verinin sistem dışına çıkması</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13</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Access Logs / Audit Trail</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Kim, ne zaman, hangi dataset üzerinde ne yaptı?</a:t>
            </a:r>
            <a:endParaRPr lang="en-US" sz="1550" dirty="0"/>
          </a:p>
        </p:txBody>
      </p:sp>
      <p:sp>
        <p:nvSpPr>
          <p:cNvPr id="7" name="Shape 5"/>
          <p:cNvSpPr/>
          <p:nvPr/>
        </p:nvSpPr>
        <p:spPr>
          <a:xfrm>
            <a:off x="857250" y="2000250"/>
            <a:ext cx="10477500" cy="2809875"/>
          </a:xfrm>
          <a:prstGeom prst="roundRect">
            <a:avLst/>
          </a:prstGeom>
          <a:solidFill>
            <a:srgbClr val="F8FBFF"/>
          </a:solidFill>
          <a:ln w="12700">
            <a:solidFill>
              <a:srgbClr val="D7E3F0"/>
            </a:solidFill>
            <a:prstDash val="solid"/>
          </a:ln>
        </p:spPr>
      </p:sp>
      <p:sp>
        <p:nvSpPr>
          <p:cNvPr id="8" name="Text 6"/>
          <p:cNvSpPr/>
          <p:nvPr/>
        </p:nvSpPr>
        <p:spPr>
          <a:xfrm>
            <a:off x="1190625" y="2238375"/>
            <a:ext cx="2476500" cy="247650"/>
          </a:xfrm>
          <a:prstGeom prst="rect">
            <a:avLst/>
          </a:prstGeom>
          <a:noFill/>
          <a:ln/>
        </p:spPr>
        <p:txBody>
          <a:bodyPr wrap="square" lIns="0" tIns="0" rIns="0" bIns="0" rtlCol="0" anchor="t">
            <a:normAutofit/>
          </a:bodyPr>
          <a:lstStyle/>
          <a:p>
            <a:pPr algn="l" indent="0" marL="0">
              <a:buNone/>
            </a:pPr>
            <a:r>
              <a:rPr lang="en-US" sz="2000" b="1" dirty="0">
                <a:solidFill>
                  <a:srgbClr val="0F172A"/>
                </a:solidFill>
                <a:latin typeface="Aptos" pitchFamily="34" charset="0"/>
                <a:ea typeface="Aptos" pitchFamily="34" charset="-122"/>
                <a:cs typeface="Aptos" pitchFamily="34" charset="-120"/>
              </a:rPr>
              <a:t>Loglanan işlemler</a:t>
            </a:r>
            <a:endParaRPr lang="en-US" sz="2000" dirty="0"/>
          </a:p>
        </p:txBody>
      </p:sp>
      <p:sp>
        <p:nvSpPr>
          <p:cNvPr id="9" name="Shape 7"/>
          <p:cNvSpPr/>
          <p:nvPr/>
        </p:nvSpPr>
        <p:spPr>
          <a:xfrm>
            <a:off x="1238250" y="2857500"/>
            <a:ext cx="104775" cy="104775"/>
          </a:xfrm>
          <a:prstGeom prst="ellipse">
            <a:avLst/>
          </a:prstGeom>
          <a:solidFill>
            <a:srgbClr val="38BDF8"/>
          </a:solidFill>
          <a:ln w="12700">
            <a:solidFill>
              <a:srgbClr val="38BDF8">
                <a:alpha val="0"/>
              </a:srgbClr>
            </a:solidFill>
            <a:prstDash val="solid"/>
          </a:ln>
        </p:spPr>
      </p:sp>
      <p:sp>
        <p:nvSpPr>
          <p:cNvPr id="10" name="Text 8"/>
          <p:cNvSpPr/>
          <p:nvPr/>
        </p:nvSpPr>
        <p:spPr>
          <a:xfrm>
            <a:off x="1476375" y="2781300"/>
            <a:ext cx="2809875" cy="361950"/>
          </a:xfrm>
          <a:prstGeom prst="rect">
            <a:avLst/>
          </a:prstGeom>
          <a:noFill/>
          <a:ln/>
        </p:spPr>
        <p:txBody>
          <a:bodyPr wrap="square" lIns="0" tIns="0" rIns="0" bIns="0" rtlCol="0" anchor="t">
            <a:normAutofit/>
          </a:bodyPr>
          <a:lstStyle/>
          <a:p>
            <a:pPr algn="l" indent="0" marL="0">
              <a:buNone/>
            </a:pPr>
            <a:r>
              <a:rPr lang="en-US" sz="1700" dirty="0">
                <a:solidFill>
                  <a:srgbClr val="243044"/>
                </a:solidFill>
                <a:latin typeface="Aptos" pitchFamily="34" charset="0"/>
                <a:ea typeface="Aptos" pitchFamily="34" charset="-122"/>
                <a:cs typeface="Aptos" pitchFamily="34" charset="-120"/>
              </a:rPr>
              <a:t>view</a:t>
            </a:r>
            <a:endParaRPr lang="en-US" sz="1700" dirty="0"/>
          </a:p>
        </p:txBody>
      </p:sp>
      <p:sp>
        <p:nvSpPr>
          <p:cNvPr id="11" name="Shape 9"/>
          <p:cNvSpPr/>
          <p:nvPr/>
        </p:nvSpPr>
        <p:spPr>
          <a:xfrm>
            <a:off x="1238250" y="3219450"/>
            <a:ext cx="104775" cy="104775"/>
          </a:xfrm>
          <a:prstGeom prst="ellipse">
            <a:avLst/>
          </a:prstGeom>
          <a:solidFill>
            <a:srgbClr val="38BDF8"/>
          </a:solidFill>
          <a:ln w="12700">
            <a:solidFill>
              <a:srgbClr val="38BDF8">
                <a:alpha val="0"/>
              </a:srgbClr>
            </a:solidFill>
            <a:prstDash val="solid"/>
          </a:ln>
        </p:spPr>
      </p:sp>
      <p:sp>
        <p:nvSpPr>
          <p:cNvPr id="12" name="Text 10"/>
          <p:cNvSpPr/>
          <p:nvPr/>
        </p:nvSpPr>
        <p:spPr>
          <a:xfrm>
            <a:off x="1476375" y="3143250"/>
            <a:ext cx="2809875" cy="361950"/>
          </a:xfrm>
          <a:prstGeom prst="rect">
            <a:avLst/>
          </a:prstGeom>
          <a:noFill/>
          <a:ln/>
        </p:spPr>
        <p:txBody>
          <a:bodyPr wrap="square" lIns="0" tIns="0" rIns="0" bIns="0" rtlCol="0" anchor="t">
            <a:normAutofit/>
          </a:bodyPr>
          <a:lstStyle/>
          <a:p>
            <a:pPr algn="l" indent="0" marL="0">
              <a:buNone/>
            </a:pPr>
            <a:r>
              <a:rPr lang="en-US" sz="1700" dirty="0">
                <a:solidFill>
                  <a:srgbClr val="243044"/>
                </a:solidFill>
                <a:latin typeface="Aptos" pitchFamily="34" charset="0"/>
                <a:ea typeface="Aptos" pitchFamily="34" charset="-122"/>
                <a:cs typeface="Aptos" pitchFamily="34" charset="-120"/>
              </a:rPr>
              <a:t>analyze</a:t>
            </a:r>
            <a:endParaRPr lang="en-US" sz="1700" dirty="0"/>
          </a:p>
        </p:txBody>
      </p:sp>
      <p:sp>
        <p:nvSpPr>
          <p:cNvPr id="13" name="Shape 11"/>
          <p:cNvSpPr/>
          <p:nvPr/>
        </p:nvSpPr>
        <p:spPr>
          <a:xfrm>
            <a:off x="1238250" y="3581400"/>
            <a:ext cx="104775" cy="104775"/>
          </a:xfrm>
          <a:prstGeom prst="ellipse">
            <a:avLst/>
          </a:prstGeom>
          <a:solidFill>
            <a:srgbClr val="38BDF8"/>
          </a:solidFill>
          <a:ln w="12700">
            <a:solidFill>
              <a:srgbClr val="38BDF8">
                <a:alpha val="0"/>
              </a:srgbClr>
            </a:solidFill>
            <a:prstDash val="solid"/>
          </a:ln>
        </p:spPr>
      </p:sp>
      <p:sp>
        <p:nvSpPr>
          <p:cNvPr id="14" name="Text 12"/>
          <p:cNvSpPr/>
          <p:nvPr/>
        </p:nvSpPr>
        <p:spPr>
          <a:xfrm>
            <a:off x="1476375" y="3505200"/>
            <a:ext cx="2809875" cy="361950"/>
          </a:xfrm>
          <a:prstGeom prst="rect">
            <a:avLst/>
          </a:prstGeom>
          <a:noFill/>
          <a:ln/>
        </p:spPr>
        <p:txBody>
          <a:bodyPr wrap="square" lIns="0" tIns="0" rIns="0" bIns="0" rtlCol="0" anchor="t">
            <a:normAutofit/>
          </a:bodyPr>
          <a:lstStyle/>
          <a:p>
            <a:pPr algn="l" indent="0" marL="0">
              <a:buNone/>
            </a:pPr>
            <a:r>
              <a:rPr lang="en-US" sz="1700" dirty="0">
                <a:solidFill>
                  <a:srgbClr val="243044"/>
                </a:solidFill>
                <a:latin typeface="Aptos" pitchFamily="34" charset="0"/>
                <a:ea typeface="Aptos" pitchFamily="34" charset="-122"/>
                <a:cs typeface="Aptos" pitchFamily="34" charset="-120"/>
              </a:rPr>
              <a:t>export</a:t>
            </a:r>
            <a:endParaRPr lang="en-US" sz="1700" dirty="0"/>
          </a:p>
        </p:txBody>
      </p:sp>
      <p:sp>
        <p:nvSpPr>
          <p:cNvPr id="15" name="Shape 13"/>
          <p:cNvSpPr/>
          <p:nvPr/>
        </p:nvSpPr>
        <p:spPr>
          <a:xfrm>
            <a:off x="1238250" y="3943350"/>
            <a:ext cx="104775" cy="104775"/>
          </a:xfrm>
          <a:prstGeom prst="ellipse">
            <a:avLst/>
          </a:prstGeom>
          <a:solidFill>
            <a:srgbClr val="38BDF8"/>
          </a:solidFill>
          <a:ln w="12700">
            <a:solidFill>
              <a:srgbClr val="38BDF8">
                <a:alpha val="0"/>
              </a:srgbClr>
            </a:solidFill>
            <a:prstDash val="solid"/>
          </a:ln>
        </p:spPr>
      </p:sp>
      <p:sp>
        <p:nvSpPr>
          <p:cNvPr id="16" name="Text 14"/>
          <p:cNvSpPr/>
          <p:nvPr/>
        </p:nvSpPr>
        <p:spPr>
          <a:xfrm>
            <a:off x="1476375" y="3867150"/>
            <a:ext cx="2809875" cy="361950"/>
          </a:xfrm>
          <a:prstGeom prst="rect">
            <a:avLst/>
          </a:prstGeom>
          <a:noFill/>
          <a:ln/>
        </p:spPr>
        <p:txBody>
          <a:bodyPr wrap="square" lIns="0" tIns="0" rIns="0" bIns="0" rtlCol="0" anchor="t">
            <a:normAutofit/>
          </a:bodyPr>
          <a:lstStyle/>
          <a:p>
            <a:pPr algn="l" indent="0" marL="0">
              <a:buNone/>
            </a:pPr>
            <a:r>
              <a:rPr lang="en-US" sz="1700" dirty="0">
                <a:solidFill>
                  <a:srgbClr val="243044"/>
                </a:solidFill>
                <a:latin typeface="Aptos" pitchFamily="34" charset="0"/>
                <a:ea typeface="Aptos" pitchFamily="34" charset="-122"/>
                <a:cs typeface="Aptos" pitchFamily="34" charset="-120"/>
              </a:rPr>
              <a:t>share</a:t>
            </a:r>
            <a:endParaRPr lang="en-US" sz="1700" dirty="0"/>
          </a:p>
        </p:txBody>
      </p:sp>
      <p:sp>
        <p:nvSpPr>
          <p:cNvPr id="17" name="Shape 15"/>
          <p:cNvSpPr/>
          <p:nvPr/>
        </p:nvSpPr>
        <p:spPr>
          <a:xfrm>
            <a:off x="1238250" y="4305300"/>
            <a:ext cx="104775" cy="104775"/>
          </a:xfrm>
          <a:prstGeom prst="ellipse">
            <a:avLst/>
          </a:prstGeom>
          <a:solidFill>
            <a:srgbClr val="38BDF8"/>
          </a:solidFill>
          <a:ln w="12700">
            <a:solidFill>
              <a:srgbClr val="38BDF8">
                <a:alpha val="0"/>
              </a:srgbClr>
            </a:solidFill>
            <a:prstDash val="solid"/>
          </a:ln>
        </p:spPr>
      </p:sp>
      <p:sp>
        <p:nvSpPr>
          <p:cNvPr id="18" name="Text 16"/>
          <p:cNvSpPr/>
          <p:nvPr/>
        </p:nvSpPr>
        <p:spPr>
          <a:xfrm>
            <a:off x="1476375" y="4229100"/>
            <a:ext cx="2809875" cy="361950"/>
          </a:xfrm>
          <a:prstGeom prst="rect">
            <a:avLst/>
          </a:prstGeom>
          <a:noFill/>
          <a:ln/>
        </p:spPr>
        <p:txBody>
          <a:bodyPr wrap="square" lIns="0" tIns="0" rIns="0" bIns="0" rtlCol="0" anchor="t">
            <a:normAutofit/>
          </a:bodyPr>
          <a:lstStyle/>
          <a:p>
            <a:pPr algn="l" indent="0" marL="0">
              <a:buNone/>
            </a:pPr>
            <a:r>
              <a:rPr lang="en-US" sz="1700" dirty="0">
                <a:solidFill>
                  <a:srgbClr val="243044"/>
                </a:solidFill>
                <a:latin typeface="Aptos" pitchFamily="34" charset="0"/>
                <a:ea typeface="Aptos" pitchFamily="34" charset="-122"/>
                <a:cs typeface="Aptos" pitchFamily="34" charset="-120"/>
              </a:rPr>
              <a:t>denied_access</a:t>
            </a:r>
            <a:endParaRPr lang="en-US" sz="1700" dirty="0"/>
          </a:p>
        </p:txBody>
      </p:sp>
      <p:sp>
        <p:nvSpPr>
          <p:cNvPr id="19" name="Text 17"/>
          <p:cNvSpPr/>
          <p:nvPr/>
        </p:nvSpPr>
        <p:spPr>
          <a:xfrm>
            <a:off x="5429250" y="2238375"/>
            <a:ext cx="2286000" cy="247650"/>
          </a:xfrm>
          <a:prstGeom prst="rect">
            <a:avLst/>
          </a:prstGeom>
          <a:noFill/>
          <a:ln/>
        </p:spPr>
        <p:txBody>
          <a:bodyPr wrap="square" lIns="0" tIns="0" rIns="0" bIns="0" rtlCol="0" anchor="t">
            <a:normAutofit/>
          </a:bodyPr>
          <a:lstStyle/>
          <a:p>
            <a:pPr algn="l" indent="0" marL="0">
              <a:buNone/>
            </a:pPr>
            <a:r>
              <a:rPr lang="en-US" sz="2000" b="1" dirty="0">
                <a:solidFill>
                  <a:srgbClr val="0F172A"/>
                </a:solidFill>
                <a:latin typeface="Aptos" pitchFamily="34" charset="0"/>
                <a:ea typeface="Aptos" pitchFamily="34" charset="-122"/>
                <a:cs typeface="Aptos" pitchFamily="34" charset="-120"/>
              </a:rPr>
              <a:t>Log alanları</a:t>
            </a:r>
            <a:endParaRPr lang="en-US" sz="2000" dirty="0"/>
          </a:p>
        </p:txBody>
      </p:sp>
      <p:sp>
        <p:nvSpPr>
          <p:cNvPr id="20" name="Shape 18"/>
          <p:cNvSpPr/>
          <p:nvPr/>
        </p:nvSpPr>
        <p:spPr>
          <a:xfrm>
            <a:off x="5476875" y="2857500"/>
            <a:ext cx="104775" cy="104775"/>
          </a:xfrm>
          <a:prstGeom prst="ellipse">
            <a:avLst/>
          </a:prstGeom>
          <a:solidFill>
            <a:srgbClr val="22C55E"/>
          </a:solidFill>
          <a:ln w="12700">
            <a:solidFill>
              <a:srgbClr val="22C55E">
                <a:alpha val="0"/>
              </a:srgbClr>
            </a:solidFill>
            <a:prstDash val="solid"/>
          </a:ln>
        </p:spPr>
      </p:sp>
      <p:sp>
        <p:nvSpPr>
          <p:cNvPr id="21" name="Text 19"/>
          <p:cNvSpPr/>
          <p:nvPr/>
        </p:nvSpPr>
        <p:spPr>
          <a:xfrm>
            <a:off x="5715000" y="2781300"/>
            <a:ext cx="3000375" cy="3619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user_id</a:t>
            </a:r>
            <a:endParaRPr lang="en-US" sz="1600" dirty="0"/>
          </a:p>
        </p:txBody>
      </p:sp>
      <p:sp>
        <p:nvSpPr>
          <p:cNvPr id="22" name="Shape 20"/>
          <p:cNvSpPr/>
          <p:nvPr/>
        </p:nvSpPr>
        <p:spPr>
          <a:xfrm>
            <a:off x="5476875" y="3181350"/>
            <a:ext cx="104775" cy="104775"/>
          </a:xfrm>
          <a:prstGeom prst="ellipse">
            <a:avLst/>
          </a:prstGeom>
          <a:solidFill>
            <a:srgbClr val="22C55E"/>
          </a:solidFill>
          <a:ln w="12700">
            <a:solidFill>
              <a:srgbClr val="22C55E">
                <a:alpha val="0"/>
              </a:srgbClr>
            </a:solidFill>
            <a:prstDash val="solid"/>
          </a:ln>
        </p:spPr>
      </p:sp>
      <p:sp>
        <p:nvSpPr>
          <p:cNvPr id="23" name="Text 21"/>
          <p:cNvSpPr/>
          <p:nvPr/>
        </p:nvSpPr>
        <p:spPr>
          <a:xfrm>
            <a:off x="5715000" y="3105150"/>
            <a:ext cx="3000375" cy="3619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dataset_id</a:t>
            </a:r>
            <a:endParaRPr lang="en-US" sz="1600" dirty="0"/>
          </a:p>
        </p:txBody>
      </p:sp>
      <p:sp>
        <p:nvSpPr>
          <p:cNvPr id="24" name="Shape 22"/>
          <p:cNvSpPr/>
          <p:nvPr/>
        </p:nvSpPr>
        <p:spPr>
          <a:xfrm>
            <a:off x="5476875" y="3505200"/>
            <a:ext cx="104775" cy="104775"/>
          </a:xfrm>
          <a:prstGeom prst="ellipse">
            <a:avLst/>
          </a:prstGeom>
          <a:solidFill>
            <a:srgbClr val="22C55E"/>
          </a:solidFill>
          <a:ln w="12700">
            <a:solidFill>
              <a:srgbClr val="22C55E">
                <a:alpha val="0"/>
              </a:srgbClr>
            </a:solidFill>
            <a:prstDash val="solid"/>
          </a:ln>
        </p:spPr>
      </p:sp>
      <p:sp>
        <p:nvSpPr>
          <p:cNvPr id="25" name="Text 23"/>
          <p:cNvSpPr/>
          <p:nvPr/>
        </p:nvSpPr>
        <p:spPr>
          <a:xfrm>
            <a:off x="5715000" y="3429000"/>
            <a:ext cx="3000375" cy="3619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action</a:t>
            </a:r>
            <a:endParaRPr lang="en-US" sz="1600" dirty="0"/>
          </a:p>
        </p:txBody>
      </p:sp>
      <p:sp>
        <p:nvSpPr>
          <p:cNvPr id="26" name="Shape 24"/>
          <p:cNvSpPr/>
          <p:nvPr/>
        </p:nvSpPr>
        <p:spPr>
          <a:xfrm>
            <a:off x="5476875" y="3829050"/>
            <a:ext cx="104775" cy="104775"/>
          </a:xfrm>
          <a:prstGeom prst="ellipse">
            <a:avLst/>
          </a:prstGeom>
          <a:solidFill>
            <a:srgbClr val="22C55E"/>
          </a:solidFill>
          <a:ln w="12700">
            <a:solidFill>
              <a:srgbClr val="22C55E">
                <a:alpha val="0"/>
              </a:srgbClr>
            </a:solidFill>
            <a:prstDash val="solid"/>
          </a:ln>
        </p:spPr>
      </p:sp>
      <p:sp>
        <p:nvSpPr>
          <p:cNvPr id="27" name="Text 25"/>
          <p:cNvSpPr/>
          <p:nvPr/>
        </p:nvSpPr>
        <p:spPr>
          <a:xfrm>
            <a:off x="5715000" y="3752850"/>
            <a:ext cx="3000375" cy="3619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status</a:t>
            </a:r>
            <a:endParaRPr lang="en-US" sz="1600" dirty="0"/>
          </a:p>
        </p:txBody>
      </p:sp>
      <p:sp>
        <p:nvSpPr>
          <p:cNvPr id="28" name="Shape 26"/>
          <p:cNvSpPr/>
          <p:nvPr/>
        </p:nvSpPr>
        <p:spPr>
          <a:xfrm>
            <a:off x="5476875" y="4152900"/>
            <a:ext cx="104775" cy="104775"/>
          </a:xfrm>
          <a:prstGeom prst="ellipse">
            <a:avLst/>
          </a:prstGeom>
          <a:solidFill>
            <a:srgbClr val="22C55E"/>
          </a:solidFill>
          <a:ln w="12700">
            <a:solidFill>
              <a:srgbClr val="22C55E">
                <a:alpha val="0"/>
              </a:srgbClr>
            </a:solidFill>
            <a:prstDash val="solid"/>
          </a:ln>
        </p:spPr>
      </p:sp>
      <p:sp>
        <p:nvSpPr>
          <p:cNvPr id="29" name="Text 27"/>
          <p:cNvSpPr/>
          <p:nvPr/>
        </p:nvSpPr>
        <p:spPr>
          <a:xfrm>
            <a:off x="5715000" y="4076700"/>
            <a:ext cx="3000375" cy="3619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timestamp</a:t>
            </a:r>
            <a:endParaRPr lang="en-US" sz="1600" dirty="0"/>
          </a:p>
        </p:txBody>
      </p:sp>
      <p:sp>
        <p:nvSpPr>
          <p:cNvPr id="30" name="Shape 28"/>
          <p:cNvSpPr/>
          <p:nvPr/>
        </p:nvSpPr>
        <p:spPr>
          <a:xfrm>
            <a:off x="5476875" y="4476750"/>
            <a:ext cx="104775" cy="104775"/>
          </a:xfrm>
          <a:prstGeom prst="ellipse">
            <a:avLst/>
          </a:prstGeom>
          <a:solidFill>
            <a:srgbClr val="22C55E"/>
          </a:solidFill>
          <a:ln w="12700">
            <a:solidFill>
              <a:srgbClr val="22C55E">
                <a:alpha val="0"/>
              </a:srgbClr>
            </a:solidFill>
            <a:prstDash val="solid"/>
          </a:ln>
        </p:spPr>
      </p:sp>
      <p:sp>
        <p:nvSpPr>
          <p:cNvPr id="31" name="Text 29"/>
          <p:cNvSpPr/>
          <p:nvPr/>
        </p:nvSpPr>
        <p:spPr>
          <a:xfrm>
            <a:off x="5715000" y="4400550"/>
            <a:ext cx="3000375" cy="361950"/>
          </a:xfrm>
          <a:prstGeom prst="rect">
            <a:avLst/>
          </a:prstGeom>
          <a:noFill/>
          <a:ln/>
        </p:spPr>
        <p:txBody>
          <a:bodyPr wrap="square" lIns="0" tIns="0" rIns="0" bIns="0" rtlCol="0" anchor="t">
            <a:normAutofit/>
          </a:bodyPr>
          <a:lstStyle/>
          <a:p>
            <a:pPr algn="l" indent="0" marL="0">
              <a:buNone/>
            </a:pPr>
            <a:r>
              <a:rPr lang="en-US" sz="1600" dirty="0">
                <a:solidFill>
                  <a:srgbClr val="243044"/>
                </a:solidFill>
                <a:latin typeface="Aptos" pitchFamily="34" charset="0"/>
                <a:ea typeface="Aptos" pitchFamily="34" charset="-122"/>
                <a:cs typeface="Aptos" pitchFamily="34" charset="-120"/>
              </a:rPr>
              <a:t>reason</a:t>
            </a:r>
            <a:endParaRPr lang="en-US" sz="1600" dirty="0"/>
          </a:p>
        </p:txBody>
      </p:sp>
      <p:sp>
        <p:nvSpPr>
          <p:cNvPr id="32" name="Shape 30"/>
          <p:cNvSpPr/>
          <p:nvPr/>
        </p:nvSpPr>
        <p:spPr>
          <a:xfrm>
            <a:off x="1714500" y="5286375"/>
            <a:ext cx="8763000" cy="552450"/>
          </a:xfrm>
          <a:prstGeom prst="roundRect">
            <a:avLst/>
          </a:prstGeom>
          <a:solidFill>
            <a:srgbClr val="0B1220"/>
          </a:solidFill>
          <a:ln w="12700">
            <a:solidFill>
              <a:srgbClr val="0B1220">
                <a:alpha val="0"/>
              </a:srgbClr>
            </a:solidFill>
            <a:prstDash val="solid"/>
          </a:ln>
        </p:spPr>
      </p:sp>
      <p:sp>
        <p:nvSpPr>
          <p:cNvPr id="33" name="Text 31"/>
          <p:cNvSpPr/>
          <p:nvPr/>
        </p:nvSpPr>
        <p:spPr>
          <a:xfrm>
            <a:off x="2000250" y="5457825"/>
            <a:ext cx="8191500" cy="228600"/>
          </a:xfrm>
          <a:prstGeom prst="rect">
            <a:avLst/>
          </a:prstGeom>
          <a:noFill/>
          <a:ln/>
        </p:spPr>
        <p:txBody>
          <a:bodyPr wrap="square" lIns="0" tIns="0" rIns="0" bIns="0" rtlCol="0" anchor="t">
            <a:normAutofit/>
          </a:bodyPr>
          <a:lstStyle/>
          <a:p>
            <a:pPr algn="ctr" indent="0" marL="0">
              <a:buNone/>
            </a:pPr>
            <a:r>
              <a:rPr lang="en-US" sz="1800" b="1" dirty="0">
                <a:solidFill>
                  <a:srgbClr val="FFFFFF"/>
                </a:solidFill>
                <a:latin typeface="Aptos" pitchFamily="34" charset="0"/>
                <a:ea typeface="Aptos" pitchFamily="34" charset="-122"/>
                <a:cs typeface="Aptos" pitchFamily="34" charset="-120"/>
              </a:rPr>
              <a:t>Audit trail, güvenlik olaylarında geriye dönük inceleme ve hesap verebilirlik sağlar.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14</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Demo Senaryosu</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Kısa ve net gösterim akışı.</a:t>
            </a:r>
            <a:endParaRPr lang="en-US" sz="1550" dirty="0"/>
          </a:p>
        </p:txBody>
      </p:sp>
      <p:sp>
        <p:nvSpPr>
          <p:cNvPr id="7" name="Shape 5"/>
          <p:cNvSpPr/>
          <p:nvPr/>
        </p:nvSpPr>
        <p:spPr>
          <a:xfrm>
            <a:off x="1000125" y="1981200"/>
            <a:ext cx="104775" cy="104775"/>
          </a:xfrm>
          <a:prstGeom prst="ellipse">
            <a:avLst/>
          </a:prstGeom>
          <a:solidFill>
            <a:srgbClr val="22C55E"/>
          </a:solidFill>
          <a:ln w="12700">
            <a:solidFill>
              <a:srgbClr val="22C55E">
                <a:alpha val="0"/>
              </a:srgbClr>
            </a:solidFill>
            <a:prstDash val="solid"/>
          </a:ln>
        </p:spPr>
      </p:sp>
      <p:sp>
        <p:nvSpPr>
          <p:cNvPr id="8" name="Text 6"/>
          <p:cNvSpPr/>
          <p:nvPr/>
        </p:nvSpPr>
        <p:spPr>
          <a:xfrm>
            <a:off x="1238250" y="1905000"/>
            <a:ext cx="8239125" cy="361950"/>
          </a:xfrm>
          <a:prstGeom prst="rect">
            <a:avLst/>
          </a:prstGeom>
          <a:noFill/>
          <a:ln/>
        </p:spPr>
        <p:txBody>
          <a:bodyPr wrap="square" lIns="0" tIns="0" rIns="0" bIns="0" rtlCol="0" anchor="t">
            <a:normAutofit/>
          </a:bodyPr>
          <a:lstStyle/>
          <a:p>
            <a:pPr algn="l" indent="0" marL="0">
              <a:buNone/>
            </a:pPr>
            <a:r>
              <a:rPr lang="en-US" sz="1950" dirty="0">
                <a:solidFill>
                  <a:srgbClr val="243044"/>
                </a:solidFill>
                <a:latin typeface="Aptos" pitchFamily="34" charset="0"/>
                <a:ea typeface="Aptos" pitchFamily="34" charset="-122"/>
                <a:cs typeface="Aptos" pitchFamily="34" charset="-120"/>
              </a:rPr>
              <a:t>Kullanıcı A dataset yükler; sistem güvenli saklar.</a:t>
            </a:r>
            <a:endParaRPr lang="en-US" sz="1950" dirty="0"/>
          </a:p>
        </p:txBody>
      </p:sp>
      <p:sp>
        <p:nvSpPr>
          <p:cNvPr id="9" name="Shape 7"/>
          <p:cNvSpPr/>
          <p:nvPr/>
        </p:nvSpPr>
        <p:spPr>
          <a:xfrm>
            <a:off x="1000125" y="2533650"/>
            <a:ext cx="104775" cy="104775"/>
          </a:xfrm>
          <a:prstGeom prst="ellipse">
            <a:avLst/>
          </a:prstGeom>
          <a:solidFill>
            <a:srgbClr val="22C55E"/>
          </a:solidFill>
          <a:ln w="12700">
            <a:solidFill>
              <a:srgbClr val="22C55E">
                <a:alpha val="0"/>
              </a:srgbClr>
            </a:solidFill>
            <a:prstDash val="solid"/>
          </a:ln>
        </p:spPr>
      </p:sp>
      <p:sp>
        <p:nvSpPr>
          <p:cNvPr id="10" name="Text 8"/>
          <p:cNvSpPr/>
          <p:nvPr/>
        </p:nvSpPr>
        <p:spPr>
          <a:xfrm>
            <a:off x="1238250" y="2457450"/>
            <a:ext cx="8239125" cy="361950"/>
          </a:xfrm>
          <a:prstGeom prst="rect">
            <a:avLst/>
          </a:prstGeom>
          <a:noFill/>
          <a:ln/>
        </p:spPr>
        <p:txBody>
          <a:bodyPr wrap="square" lIns="0" tIns="0" rIns="0" bIns="0" rtlCol="0" anchor="t">
            <a:normAutofit/>
          </a:bodyPr>
          <a:lstStyle/>
          <a:p>
            <a:pPr algn="l" indent="0" marL="0">
              <a:buNone/>
            </a:pPr>
            <a:r>
              <a:rPr lang="en-US" sz="1950" dirty="0">
                <a:solidFill>
                  <a:srgbClr val="243044"/>
                </a:solidFill>
                <a:latin typeface="Aptos" pitchFamily="34" charset="0"/>
                <a:ea typeface="Aptos" pitchFamily="34" charset="-122"/>
                <a:cs typeface="Aptos" pitchFamily="34" charset="-120"/>
              </a:rPr>
              <a:t>A, Kullanıcı B’ye sadece analyze izni verir.</a:t>
            </a:r>
            <a:endParaRPr lang="en-US" sz="1950" dirty="0"/>
          </a:p>
        </p:txBody>
      </p:sp>
      <p:sp>
        <p:nvSpPr>
          <p:cNvPr id="11" name="Shape 9"/>
          <p:cNvSpPr/>
          <p:nvPr/>
        </p:nvSpPr>
        <p:spPr>
          <a:xfrm>
            <a:off x="1000125" y="3086100"/>
            <a:ext cx="104775" cy="104775"/>
          </a:xfrm>
          <a:prstGeom prst="ellipse">
            <a:avLst/>
          </a:prstGeom>
          <a:solidFill>
            <a:srgbClr val="22C55E"/>
          </a:solidFill>
          <a:ln w="12700">
            <a:solidFill>
              <a:srgbClr val="22C55E">
                <a:alpha val="0"/>
              </a:srgbClr>
            </a:solidFill>
            <a:prstDash val="solid"/>
          </a:ln>
        </p:spPr>
      </p:sp>
      <p:sp>
        <p:nvSpPr>
          <p:cNvPr id="12" name="Text 10"/>
          <p:cNvSpPr/>
          <p:nvPr/>
        </p:nvSpPr>
        <p:spPr>
          <a:xfrm>
            <a:off x="1238250" y="3009900"/>
            <a:ext cx="8239125" cy="361950"/>
          </a:xfrm>
          <a:prstGeom prst="rect">
            <a:avLst/>
          </a:prstGeom>
          <a:noFill/>
          <a:ln/>
        </p:spPr>
        <p:txBody>
          <a:bodyPr wrap="square" lIns="0" tIns="0" rIns="0" bIns="0" rtlCol="0" anchor="t">
            <a:normAutofit/>
          </a:bodyPr>
          <a:lstStyle/>
          <a:p>
            <a:pPr algn="l" indent="0" marL="0">
              <a:buNone/>
            </a:pPr>
            <a:r>
              <a:rPr lang="en-US" sz="1950" dirty="0">
                <a:solidFill>
                  <a:srgbClr val="243044"/>
                </a:solidFill>
                <a:latin typeface="Aptos" pitchFamily="34" charset="0"/>
                <a:ea typeface="Aptos" pitchFamily="34" charset="-122"/>
                <a:cs typeface="Aptos" pitchFamily="34" charset="-120"/>
              </a:rPr>
              <a:t>B workflow içinde dataset’i analiz eder.</a:t>
            </a:r>
            <a:endParaRPr lang="en-US" sz="1950" dirty="0"/>
          </a:p>
        </p:txBody>
      </p:sp>
      <p:sp>
        <p:nvSpPr>
          <p:cNvPr id="13" name="Shape 11"/>
          <p:cNvSpPr/>
          <p:nvPr/>
        </p:nvSpPr>
        <p:spPr>
          <a:xfrm>
            <a:off x="1000125" y="3638550"/>
            <a:ext cx="104775" cy="104775"/>
          </a:xfrm>
          <a:prstGeom prst="ellipse">
            <a:avLst/>
          </a:prstGeom>
          <a:solidFill>
            <a:srgbClr val="22C55E"/>
          </a:solidFill>
          <a:ln w="12700">
            <a:solidFill>
              <a:srgbClr val="22C55E">
                <a:alpha val="0"/>
              </a:srgbClr>
            </a:solidFill>
            <a:prstDash val="solid"/>
          </a:ln>
        </p:spPr>
      </p:sp>
      <p:sp>
        <p:nvSpPr>
          <p:cNvPr id="14" name="Text 12"/>
          <p:cNvSpPr/>
          <p:nvPr/>
        </p:nvSpPr>
        <p:spPr>
          <a:xfrm>
            <a:off x="1238250" y="3562350"/>
            <a:ext cx="8239125" cy="361950"/>
          </a:xfrm>
          <a:prstGeom prst="rect">
            <a:avLst/>
          </a:prstGeom>
          <a:noFill/>
          <a:ln/>
        </p:spPr>
        <p:txBody>
          <a:bodyPr wrap="square" lIns="0" tIns="0" rIns="0" bIns="0" rtlCol="0" anchor="t">
            <a:normAutofit/>
          </a:bodyPr>
          <a:lstStyle/>
          <a:p>
            <a:pPr algn="l" indent="0" marL="0">
              <a:buNone/>
            </a:pPr>
            <a:r>
              <a:rPr lang="en-US" sz="1950" dirty="0">
                <a:solidFill>
                  <a:srgbClr val="243044"/>
                </a:solidFill>
                <a:latin typeface="Aptos" pitchFamily="34" charset="0"/>
                <a:ea typeface="Aptos" pitchFamily="34" charset="-122"/>
                <a:cs typeface="Aptos" pitchFamily="34" charset="-120"/>
              </a:rPr>
              <a:t>B export yapmaya çalışır; export izni olmadığı için engellenir.</a:t>
            </a:r>
            <a:endParaRPr lang="en-US" sz="1950" dirty="0"/>
          </a:p>
        </p:txBody>
      </p:sp>
      <p:sp>
        <p:nvSpPr>
          <p:cNvPr id="15" name="Shape 13"/>
          <p:cNvSpPr/>
          <p:nvPr/>
        </p:nvSpPr>
        <p:spPr>
          <a:xfrm>
            <a:off x="1000125" y="4191000"/>
            <a:ext cx="104775" cy="104775"/>
          </a:xfrm>
          <a:prstGeom prst="ellipse">
            <a:avLst/>
          </a:prstGeom>
          <a:solidFill>
            <a:srgbClr val="22C55E"/>
          </a:solidFill>
          <a:ln w="12700">
            <a:solidFill>
              <a:srgbClr val="22C55E">
                <a:alpha val="0"/>
              </a:srgbClr>
            </a:solidFill>
            <a:prstDash val="solid"/>
          </a:ln>
        </p:spPr>
      </p:sp>
      <p:sp>
        <p:nvSpPr>
          <p:cNvPr id="16" name="Text 14"/>
          <p:cNvSpPr/>
          <p:nvPr/>
        </p:nvSpPr>
        <p:spPr>
          <a:xfrm>
            <a:off x="1238250" y="4114800"/>
            <a:ext cx="8239125" cy="361950"/>
          </a:xfrm>
          <a:prstGeom prst="rect">
            <a:avLst/>
          </a:prstGeom>
          <a:noFill/>
          <a:ln/>
        </p:spPr>
        <p:txBody>
          <a:bodyPr wrap="square" lIns="0" tIns="0" rIns="0" bIns="0" rtlCol="0" anchor="t">
            <a:normAutofit/>
          </a:bodyPr>
          <a:lstStyle/>
          <a:p>
            <a:pPr algn="l" indent="0" marL="0">
              <a:buNone/>
            </a:pPr>
            <a:r>
              <a:rPr lang="en-US" sz="1950" dirty="0">
                <a:solidFill>
                  <a:srgbClr val="243044"/>
                </a:solidFill>
                <a:latin typeface="Aptos" pitchFamily="34" charset="0"/>
                <a:ea typeface="Aptos" pitchFamily="34" charset="-122"/>
                <a:cs typeface="Aptos" pitchFamily="34" charset="-120"/>
              </a:rPr>
              <a:t>Yetkisiz C erişmeye çalışır; denied_access loglanır.</a:t>
            </a:r>
            <a:endParaRPr lang="en-US" sz="1950" dirty="0"/>
          </a:p>
        </p:txBody>
      </p:sp>
      <p:sp>
        <p:nvSpPr>
          <p:cNvPr id="17" name="Shape 15"/>
          <p:cNvSpPr/>
          <p:nvPr/>
        </p:nvSpPr>
        <p:spPr>
          <a:xfrm>
            <a:off x="1000125" y="4743450"/>
            <a:ext cx="104775" cy="104775"/>
          </a:xfrm>
          <a:prstGeom prst="ellipse">
            <a:avLst/>
          </a:prstGeom>
          <a:solidFill>
            <a:srgbClr val="22C55E"/>
          </a:solidFill>
          <a:ln w="12700">
            <a:solidFill>
              <a:srgbClr val="22C55E">
                <a:alpha val="0"/>
              </a:srgbClr>
            </a:solidFill>
            <a:prstDash val="solid"/>
          </a:ln>
        </p:spPr>
      </p:sp>
      <p:sp>
        <p:nvSpPr>
          <p:cNvPr id="18" name="Text 16"/>
          <p:cNvSpPr/>
          <p:nvPr/>
        </p:nvSpPr>
        <p:spPr>
          <a:xfrm>
            <a:off x="1238250" y="4667250"/>
            <a:ext cx="8239125" cy="361950"/>
          </a:xfrm>
          <a:prstGeom prst="rect">
            <a:avLst/>
          </a:prstGeom>
          <a:noFill/>
          <a:ln/>
        </p:spPr>
        <p:txBody>
          <a:bodyPr wrap="square" lIns="0" tIns="0" rIns="0" bIns="0" rtlCol="0" anchor="t">
            <a:normAutofit/>
          </a:bodyPr>
          <a:lstStyle/>
          <a:p>
            <a:pPr algn="l" indent="0" marL="0">
              <a:buNone/>
            </a:pPr>
            <a:r>
              <a:rPr lang="en-US" sz="1950" dirty="0">
                <a:solidFill>
                  <a:srgbClr val="243044"/>
                </a:solidFill>
                <a:latin typeface="Aptos" pitchFamily="34" charset="0"/>
                <a:ea typeface="Aptos" pitchFamily="34" charset="-122"/>
                <a:cs typeface="Aptos" pitchFamily="34" charset="-120"/>
              </a:rPr>
              <a:t>A, Security sekmesinde access logları görür.</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6858000"/>
          </a:xfrm>
          <a:prstGeom prst="rect">
            <a:avLst/>
          </a:prstGeom>
          <a:solidFill>
            <a:srgbClr val="0B1220"/>
          </a:solidFill>
          <a:ln w="12700">
            <a:solidFill>
              <a:srgbClr val="0B1220">
                <a:alpha val="0"/>
              </a:srgbClr>
            </a:solidFill>
            <a:prstDash val="solid"/>
          </a:ln>
        </p:spPr>
      </p:sp>
      <p:sp>
        <p:nvSpPr>
          <p:cNvPr id="3" name="Shape 1"/>
          <p:cNvSpPr/>
          <p:nvPr/>
        </p:nvSpPr>
        <p:spPr>
          <a:xfrm>
            <a:off x="400050" y="400050"/>
            <a:ext cx="361950" cy="76200"/>
          </a:xfrm>
          <a:prstGeom prst="rect">
            <a:avLst/>
          </a:prstGeom>
          <a:solidFill>
            <a:srgbClr val="22C55E"/>
          </a:solidFill>
          <a:ln w="12700">
            <a:solidFill>
              <a:srgbClr val="22C55E">
                <a:alpha val="0"/>
              </a:srgbClr>
            </a:solidFill>
            <a:prstDash val="solid"/>
          </a:ln>
        </p:spPr>
      </p:sp>
      <p:sp>
        <p:nvSpPr>
          <p:cNvPr id="4" name="Text 2"/>
          <p:cNvSpPr/>
          <p:nvPr/>
        </p:nvSpPr>
        <p:spPr>
          <a:xfrm>
            <a:off x="10744200" y="400050"/>
            <a:ext cx="666750" cy="209550"/>
          </a:xfrm>
          <a:prstGeom prst="rect">
            <a:avLst/>
          </a:prstGeom>
          <a:noFill/>
          <a:ln/>
        </p:spPr>
        <p:txBody>
          <a:bodyPr wrap="square" lIns="0" tIns="0" rIns="0" bIns="0" rtlCol="0" anchor="t">
            <a:normAutofit/>
          </a:bodyPr>
          <a:lstStyle/>
          <a:p>
            <a:pPr algn="r" indent="0" marL="0">
              <a:buNone/>
            </a:pPr>
            <a:r>
              <a:rPr lang="en-US" sz="1200" b="1" dirty="0">
                <a:solidFill>
                  <a:srgbClr val="94A3B8"/>
                </a:solidFill>
                <a:latin typeface="Aptos" pitchFamily="34" charset="0"/>
                <a:ea typeface="Aptos" pitchFamily="34" charset="-122"/>
                <a:cs typeface="Aptos" pitchFamily="34" charset="-120"/>
              </a:rPr>
              <a:t>15</a:t>
            </a:r>
            <a:endParaRPr lang="en-US" sz="1200" dirty="0"/>
          </a:p>
        </p:txBody>
      </p:sp>
      <p:sp>
        <p:nvSpPr>
          <p:cNvPr id="5" name="Text 3"/>
          <p:cNvSpPr/>
          <p:nvPr/>
        </p:nvSpPr>
        <p:spPr>
          <a:xfrm>
            <a:off x="685800" y="685800"/>
            <a:ext cx="7810500" cy="495300"/>
          </a:xfrm>
          <a:prstGeom prst="rect">
            <a:avLst/>
          </a:prstGeom>
          <a:noFill/>
          <a:ln/>
        </p:spPr>
        <p:txBody>
          <a:bodyPr wrap="square" lIns="0" tIns="0" rIns="0" bIns="0" rtlCol="0" anchor="t">
            <a:normAutofit/>
          </a:bodyPr>
          <a:lstStyle/>
          <a:p>
            <a:pPr algn="l" indent="0" marL="0">
              <a:buNone/>
            </a:pPr>
            <a:r>
              <a:rPr lang="en-US" sz="2900" b="1" dirty="0">
                <a:solidFill>
                  <a:srgbClr val="0F172A"/>
                </a:solidFill>
                <a:latin typeface="Aptos Display" pitchFamily="34" charset="0"/>
                <a:ea typeface="Aptos Display" pitchFamily="34" charset="-122"/>
                <a:cs typeface="Aptos Display" pitchFamily="34" charset="-120"/>
              </a:rPr>
              <a:t>Ders Açısından Önemi ve Sonuç</a:t>
            </a:r>
            <a:endParaRPr lang="en-US" sz="2900" dirty="0"/>
          </a:p>
        </p:txBody>
      </p:sp>
      <p:sp>
        <p:nvSpPr>
          <p:cNvPr id="6" name="Text 4"/>
          <p:cNvSpPr/>
          <p:nvPr/>
        </p:nvSpPr>
        <p:spPr>
          <a:xfrm>
            <a:off x="704850" y="1257300"/>
            <a:ext cx="7620000" cy="419100"/>
          </a:xfrm>
          <a:prstGeom prst="rect">
            <a:avLst/>
          </a:prstGeom>
          <a:noFill/>
          <a:ln/>
        </p:spPr>
        <p:txBody>
          <a:bodyPr wrap="square" lIns="0" tIns="0" rIns="0" bIns="0" rtlCol="0" anchor="t">
            <a:normAutofit/>
          </a:bodyPr>
          <a:lstStyle/>
          <a:p>
            <a:pPr algn="l" indent="0" marL="0">
              <a:buNone/>
            </a:pPr>
            <a:r>
              <a:rPr lang="en-US" sz="1550" dirty="0">
                <a:solidFill>
                  <a:srgbClr val="64748B"/>
                </a:solidFill>
                <a:latin typeface="Aptos" pitchFamily="34" charset="0"/>
                <a:ea typeface="Aptos" pitchFamily="34" charset="-122"/>
                <a:cs typeface="Aptos" pitchFamily="34" charset="-120"/>
              </a:rPr>
              <a:t>Daflow artık sadece analiz yapan değil, veriyi güvenli yöneten bir platformdur.</a:t>
            </a:r>
            <a:endParaRPr lang="en-US" sz="1550" dirty="0"/>
          </a:p>
        </p:txBody>
      </p:sp>
      <p:sp>
        <p:nvSpPr>
          <p:cNvPr id="7" name="Shape 5"/>
          <p:cNvSpPr/>
          <p:nvPr/>
        </p:nvSpPr>
        <p:spPr>
          <a:xfrm>
            <a:off x="781050" y="2076450"/>
            <a:ext cx="3143250" cy="2000250"/>
          </a:xfrm>
          <a:prstGeom prst="roundRect">
            <a:avLst/>
          </a:prstGeom>
          <a:solidFill>
            <a:srgbClr val="F8FBFF"/>
          </a:solidFill>
          <a:ln w="12700">
            <a:solidFill>
              <a:srgbClr val="D7E3F0"/>
            </a:solidFill>
            <a:prstDash val="solid"/>
          </a:ln>
        </p:spPr>
      </p:sp>
      <p:sp>
        <p:nvSpPr>
          <p:cNvPr id="8" name="Shape 6"/>
          <p:cNvSpPr/>
          <p:nvPr/>
        </p:nvSpPr>
        <p:spPr>
          <a:xfrm>
            <a:off x="781050" y="2076450"/>
            <a:ext cx="66675" cy="2000250"/>
          </a:xfrm>
          <a:prstGeom prst="rect">
            <a:avLst/>
          </a:prstGeom>
          <a:solidFill>
            <a:srgbClr val="38BDF8"/>
          </a:solidFill>
          <a:ln w="12700">
            <a:solidFill>
              <a:srgbClr val="38BDF8">
                <a:alpha val="0"/>
              </a:srgbClr>
            </a:solidFill>
            <a:prstDash val="solid"/>
          </a:ln>
        </p:spPr>
      </p:sp>
      <p:sp>
        <p:nvSpPr>
          <p:cNvPr id="9" name="Text 7"/>
          <p:cNvSpPr/>
          <p:nvPr/>
        </p:nvSpPr>
        <p:spPr>
          <a:xfrm>
            <a:off x="1000125" y="2286000"/>
            <a:ext cx="2743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Uygulamalı güvenlik</a:t>
            </a:r>
            <a:endParaRPr lang="en-US" sz="1700" dirty="0"/>
          </a:p>
        </p:txBody>
      </p:sp>
      <p:sp>
        <p:nvSpPr>
          <p:cNvPr id="10" name="Text 8"/>
          <p:cNvSpPr/>
          <p:nvPr/>
        </p:nvSpPr>
        <p:spPr>
          <a:xfrm>
            <a:off x="1000125" y="2628900"/>
            <a:ext cx="2743200" cy="1333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Teorik bilgi güvenliği kavramları çalışan bir platforma entegre edildi.</a:t>
            </a:r>
            <a:endParaRPr lang="en-US" sz="1350" dirty="0"/>
          </a:p>
        </p:txBody>
      </p:sp>
      <p:sp>
        <p:nvSpPr>
          <p:cNvPr id="11" name="Shape 9"/>
          <p:cNvSpPr/>
          <p:nvPr/>
        </p:nvSpPr>
        <p:spPr>
          <a:xfrm>
            <a:off x="4524375" y="2076450"/>
            <a:ext cx="3143250" cy="2000250"/>
          </a:xfrm>
          <a:prstGeom prst="roundRect">
            <a:avLst/>
          </a:prstGeom>
          <a:solidFill>
            <a:srgbClr val="F8FBFF"/>
          </a:solidFill>
          <a:ln w="12700">
            <a:solidFill>
              <a:srgbClr val="D7E3F0"/>
            </a:solidFill>
            <a:prstDash val="solid"/>
          </a:ln>
        </p:spPr>
      </p:sp>
      <p:sp>
        <p:nvSpPr>
          <p:cNvPr id="12" name="Shape 10"/>
          <p:cNvSpPr/>
          <p:nvPr/>
        </p:nvSpPr>
        <p:spPr>
          <a:xfrm>
            <a:off x="4524375" y="2076450"/>
            <a:ext cx="66675" cy="2000250"/>
          </a:xfrm>
          <a:prstGeom prst="rect">
            <a:avLst/>
          </a:prstGeom>
          <a:solidFill>
            <a:srgbClr val="22C55E"/>
          </a:solidFill>
          <a:ln w="12700">
            <a:solidFill>
              <a:srgbClr val="22C55E">
                <a:alpha val="0"/>
              </a:srgbClr>
            </a:solidFill>
            <a:prstDash val="solid"/>
          </a:ln>
        </p:spPr>
      </p:sp>
      <p:sp>
        <p:nvSpPr>
          <p:cNvPr id="13" name="Text 11"/>
          <p:cNvSpPr/>
          <p:nvPr/>
        </p:nvSpPr>
        <p:spPr>
          <a:xfrm>
            <a:off x="4743450" y="2286000"/>
            <a:ext cx="2743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Merkezi kontrol</a:t>
            </a:r>
            <a:endParaRPr lang="en-US" sz="1700" dirty="0"/>
          </a:p>
        </p:txBody>
      </p:sp>
      <p:sp>
        <p:nvSpPr>
          <p:cNvPr id="14" name="Text 12"/>
          <p:cNvSpPr/>
          <p:nvPr/>
        </p:nvSpPr>
        <p:spPr>
          <a:xfrm>
            <a:off x="4743450" y="2628900"/>
            <a:ext cx="2743200" cy="1333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Şifreleme, yetkilendirme, export kontrolü ve loglama otomatik çalışır.</a:t>
            </a:r>
            <a:endParaRPr lang="en-US" sz="1350" dirty="0"/>
          </a:p>
        </p:txBody>
      </p:sp>
      <p:sp>
        <p:nvSpPr>
          <p:cNvPr id="15" name="Shape 13"/>
          <p:cNvSpPr/>
          <p:nvPr/>
        </p:nvSpPr>
        <p:spPr>
          <a:xfrm>
            <a:off x="8267700" y="2076450"/>
            <a:ext cx="3143250" cy="2000250"/>
          </a:xfrm>
          <a:prstGeom prst="roundRect">
            <a:avLst/>
          </a:prstGeom>
          <a:solidFill>
            <a:srgbClr val="F8FBFF"/>
          </a:solidFill>
          <a:ln w="12700">
            <a:solidFill>
              <a:srgbClr val="D7E3F0"/>
            </a:solidFill>
            <a:prstDash val="solid"/>
          </a:ln>
        </p:spPr>
      </p:sp>
      <p:sp>
        <p:nvSpPr>
          <p:cNvPr id="16" name="Shape 14"/>
          <p:cNvSpPr/>
          <p:nvPr/>
        </p:nvSpPr>
        <p:spPr>
          <a:xfrm>
            <a:off x="8267700" y="2076450"/>
            <a:ext cx="66675" cy="2000250"/>
          </a:xfrm>
          <a:prstGeom prst="rect">
            <a:avLst/>
          </a:prstGeom>
          <a:solidFill>
            <a:srgbClr val="F59E0B"/>
          </a:solidFill>
          <a:ln w="12700">
            <a:solidFill>
              <a:srgbClr val="F59E0B">
                <a:alpha val="0"/>
              </a:srgbClr>
            </a:solidFill>
            <a:prstDash val="solid"/>
          </a:ln>
        </p:spPr>
      </p:sp>
      <p:sp>
        <p:nvSpPr>
          <p:cNvPr id="17" name="Text 15"/>
          <p:cNvSpPr/>
          <p:nvPr/>
        </p:nvSpPr>
        <p:spPr>
          <a:xfrm>
            <a:off x="8486775" y="2286000"/>
            <a:ext cx="2743200" cy="266700"/>
          </a:xfrm>
          <a:prstGeom prst="rect">
            <a:avLst/>
          </a:prstGeom>
          <a:noFill/>
          <a:ln/>
        </p:spPr>
        <p:txBody>
          <a:bodyPr wrap="square" lIns="0" tIns="0" rIns="0" bIns="0" rtlCol="0" anchor="t">
            <a:normAutofit/>
          </a:bodyPr>
          <a:lstStyle/>
          <a:p>
            <a:pPr algn="l" indent="0" marL="0">
              <a:buNone/>
            </a:pPr>
            <a:r>
              <a:rPr lang="en-US" sz="1700" b="1" dirty="0">
                <a:solidFill>
                  <a:srgbClr val="0F172A"/>
                </a:solidFill>
                <a:latin typeface="Aptos" pitchFamily="34" charset="0"/>
                <a:ea typeface="Aptos" pitchFamily="34" charset="-122"/>
                <a:cs typeface="Aptos" pitchFamily="34" charset="-120"/>
              </a:rPr>
              <a:t>Gerçek sistem yaklaşımı</a:t>
            </a:r>
            <a:endParaRPr lang="en-US" sz="1700" dirty="0"/>
          </a:p>
        </p:txBody>
      </p:sp>
      <p:sp>
        <p:nvSpPr>
          <p:cNvPr id="18" name="Text 16"/>
          <p:cNvSpPr/>
          <p:nvPr/>
        </p:nvSpPr>
        <p:spPr>
          <a:xfrm>
            <a:off x="8486775" y="2628900"/>
            <a:ext cx="2743200" cy="1333500"/>
          </a:xfrm>
          <a:prstGeom prst="rect">
            <a:avLst/>
          </a:prstGeom>
          <a:noFill/>
          <a:ln/>
        </p:spPr>
        <p:txBody>
          <a:bodyPr wrap="square" lIns="0" tIns="0" rIns="0" bIns="0" rtlCol="0" anchor="t">
            <a:normAutofit/>
          </a:bodyPr>
          <a:lstStyle/>
          <a:p>
            <a:pPr algn="l" indent="0" marL="0">
              <a:buNone/>
            </a:pPr>
            <a:r>
              <a:rPr lang="en-US" sz="1350" dirty="0">
                <a:solidFill>
                  <a:srgbClr val="64748B"/>
                </a:solidFill>
                <a:latin typeface="Aptos" pitchFamily="34" charset="0"/>
                <a:ea typeface="Aptos" pitchFamily="34" charset="-122"/>
                <a:cs typeface="Aptos" pitchFamily="34" charset="-120"/>
              </a:rPr>
              <a:t>Least privilege ve audit trail gibi pratikler veri platformuna taşındı.</a:t>
            </a:r>
            <a:endParaRPr lang="en-US" sz="1350" dirty="0"/>
          </a:p>
        </p:txBody>
      </p:sp>
      <p:sp>
        <p:nvSpPr>
          <p:cNvPr id="19" name="Shape 17"/>
          <p:cNvSpPr/>
          <p:nvPr/>
        </p:nvSpPr>
        <p:spPr>
          <a:xfrm>
            <a:off x="1619250" y="4619625"/>
            <a:ext cx="8953500" cy="704850"/>
          </a:xfrm>
          <a:prstGeom prst="roundRect">
            <a:avLst/>
          </a:prstGeom>
          <a:solidFill>
            <a:srgbClr val="0B1220"/>
          </a:solidFill>
          <a:ln w="12700">
            <a:solidFill>
              <a:srgbClr val="0B1220">
                <a:alpha val="0"/>
              </a:srgbClr>
            </a:solidFill>
            <a:prstDash val="solid"/>
          </a:ln>
        </p:spPr>
      </p:sp>
      <p:sp>
        <p:nvSpPr>
          <p:cNvPr id="20" name="Text 18"/>
          <p:cNvSpPr/>
          <p:nvPr/>
        </p:nvSpPr>
        <p:spPr>
          <a:xfrm>
            <a:off x="2000250" y="4838700"/>
            <a:ext cx="8191500" cy="666750"/>
          </a:xfrm>
          <a:prstGeom prst="rect">
            <a:avLst/>
          </a:prstGeom>
          <a:noFill/>
          <a:ln/>
        </p:spPr>
        <p:txBody>
          <a:bodyPr wrap="square" lIns="0" tIns="0" rIns="0" bIns="0" rtlCol="0" anchor="t">
            <a:normAutofit/>
          </a:bodyPr>
          <a:lstStyle/>
          <a:p>
            <a:pPr algn="ctr" indent="0" marL="0">
              <a:buNone/>
            </a:pPr>
            <a:r>
              <a:rPr lang="en-US" sz="2100" b="1" dirty="0">
                <a:solidFill>
                  <a:srgbClr val="FFFFFF"/>
                </a:solidFill>
                <a:latin typeface="Aptos" pitchFamily="34" charset="0"/>
                <a:ea typeface="Aptos" pitchFamily="34" charset="-122"/>
                <a:cs typeface="Aptos" pitchFamily="34" charset="-120"/>
              </a:rPr>
              <a:t>Sonuç: SecureShare, Daflow’u güvenlik kontrollü veri analiz platformuna dönüştürür.</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Daflow SecureShare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Daflow SecureShare: Şifreli Veri Saklama ve Yetkili Paylaşım Katmanı</dc:title>
  <dc:subject>Bilgi Güvenliği sunumu</dc:subject>
  <dc:creator>Daflow</dc:creator>
  <cp:lastModifiedBy>Daflow</cp:lastModifiedBy>
  <cp:revision>1</cp:revision>
  <dcterms:created xsi:type="dcterms:W3CDTF">2026-05-05T22:07:40Z</dcterms:created>
  <dcterms:modified xsi:type="dcterms:W3CDTF">2026-05-05T22:07:40Z</dcterms:modified>
</cp:coreProperties>
</file>